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4"/>
  </p:sldMasterIdLst>
  <p:notesMasterIdLst>
    <p:notesMasterId r:id="rId11"/>
  </p:notesMasterIdLst>
  <p:handoutMasterIdLst>
    <p:handoutMasterId r:id="rId12"/>
  </p:handoutMasterIdLst>
  <p:sldIdLst>
    <p:sldId id="312" r:id="rId5"/>
    <p:sldId id="264" r:id="rId6"/>
    <p:sldId id="304" r:id="rId7"/>
    <p:sldId id="314" r:id="rId8"/>
    <p:sldId id="313" r:id="rId9"/>
    <p:sldId id="271" r:id="rId10"/>
  </p:sldIdLst>
  <p:sldSz cx="12192000" cy="6858000"/>
  <p:notesSz cx="6950075" cy="9236075"/>
  <p:custDataLst>
    <p:tags r:id="rId13"/>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6" orient="horz" pos="36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D4F-8EBE-474C-3F8A-8E5FC5FA0DDD}" name="Caio Souza" initials="CS" userId="S::caio.lsouza@xpi.com.br::3c9a17a9-6dee-4d8b-b93c-2a0cbe4083e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130"/>
    <a:srgbClr val="D2D2D2"/>
    <a:srgbClr val="F2F2F2"/>
    <a:srgbClr val="E7E6E6"/>
    <a:srgbClr val="000000"/>
    <a:srgbClr val="18191A"/>
    <a:srgbClr val="D9D9D9"/>
    <a:srgbClr val="263C3E"/>
    <a:srgbClr val="498F87"/>
    <a:srgbClr val="C8F9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91" autoAdjust="0"/>
    <p:restoredTop sz="91895" autoAdjust="0"/>
  </p:normalViewPr>
  <p:slideViewPr>
    <p:cSldViewPr snapToGrid="0">
      <p:cViewPr varScale="1">
        <p:scale>
          <a:sx n="111" d="100"/>
          <a:sy n="111" d="100"/>
        </p:scale>
        <p:origin x="924" y="96"/>
      </p:cViewPr>
      <p:guideLst>
        <p:guide pos="3840"/>
        <p:guide orient="horz" pos="3634"/>
      </p:guideLst>
    </p:cSldViewPr>
  </p:slideViewPr>
  <p:outlineViewPr>
    <p:cViewPr>
      <p:scale>
        <a:sx n="33" d="100"/>
        <a:sy n="33" d="100"/>
      </p:scale>
      <p:origin x="0" y="-13122"/>
    </p:cViewPr>
  </p:outlineViewPr>
  <p:notesTextViewPr>
    <p:cViewPr>
      <p:scale>
        <a:sx n="3" d="2"/>
        <a:sy n="3" d="2"/>
      </p:scale>
      <p:origin x="0" y="0"/>
    </p:cViewPr>
  </p:notesTextViewPr>
  <p:sorterViewPr>
    <p:cViewPr varScale="1">
      <p:scale>
        <a:sx n="1" d="1"/>
        <a:sy n="1" d="1"/>
      </p:scale>
      <p:origin x="0" y="-7806"/>
    </p:cViewPr>
  </p:sorterViewPr>
  <p:notesViewPr>
    <p:cSldViewPr snapToGrid="0">
      <p:cViewPr varScale="1">
        <p:scale>
          <a:sx n="83" d="100"/>
          <a:sy n="83" d="100"/>
        </p:scale>
        <p:origin x="3828" y="96"/>
      </p:cViewPr>
      <p:guideLst/>
    </p:cSldViewPr>
  </p:notesViewPr>
  <p:gridSpacing cx="59999" cy="59999"/>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commentAuthors" Target="commentAuthor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Top Ações XP</c:v>
                </c:pt>
              </c:strCache>
            </c:strRef>
          </c:tx>
          <c:spPr>
            <a:ln w="22225" cap="rnd">
              <a:solidFill>
                <a:schemeClr val="accent4"/>
              </a:solidFill>
              <a:round/>
            </a:ln>
            <a:effectLst/>
          </c:spPr>
          <c:marker>
            <c:symbol val="none"/>
          </c:marker>
          <c:cat>
            <c:numRef>
              <c:f>Sheet1!$A$2:$A$376</c:f>
              <c:numCache>
                <c:formatCode>yyyy\-mm\-dd</c:formatCode>
                <c:ptCount val="375"/>
                <c:pt idx="0">
                  <c:v>45716.0</c:v>
                </c:pt>
                <c:pt idx="1">
                  <c:v>45721.0</c:v>
                </c:pt>
                <c:pt idx="2">
                  <c:v>45722.0</c:v>
                </c:pt>
                <c:pt idx="3">
                  <c:v>45723.0</c:v>
                </c:pt>
                <c:pt idx="4">
                  <c:v>45726.0</c:v>
                </c:pt>
                <c:pt idx="5">
                  <c:v>45727.0</c:v>
                </c:pt>
                <c:pt idx="6">
                  <c:v>45728.0</c:v>
                </c:pt>
                <c:pt idx="7">
                  <c:v>45729.0</c:v>
                </c:pt>
                <c:pt idx="8">
                  <c:v>45730.0</c:v>
                </c:pt>
                <c:pt idx="9">
                  <c:v>45733.0</c:v>
                </c:pt>
                <c:pt idx="10">
                  <c:v>45734.0</c:v>
                </c:pt>
                <c:pt idx="11">
                  <c:v>45735.0</c:v>
                </c:pt>
                <c:pt idx="12">
                  <c:v>45736.0</c:v>
                </c:pt>
                <c:pt idx="13">
                  <c:v>45737.0</c:v>
                </c:pt>
                <c:pt idx="14">
                  <c:v>45740.0</c:v>
                </c:pt>
                <c:pt idx="15">
                  <c:v>45741.0</c:v>
                </c:pt>
                <c:pt idx="16">
                  <c:v>45742.0</c:v>
                </c:pt>
                <c:pt idx="17">
                  <c:v>45743.0</c:v>
                </c:pt>
                <c:pt idx="18">
                  <c:v>45744.0</c:v>
                </c:pt>
                <c:pt idx="19">
                  <c:v>45747.0</c:v>
                </c:pt>
                <c:pt idx="20">
                  <c:v>45748.0</c:v>
                </c:pt>
                <c:pt idx="21">
                  <c:v>45749.0</c:v>
                </c:pt>
                <c:pt idx="22">
                  <c:v>45750.0</c:v>
                </c:pt>
                <c:pt idx="23">
                  <c:v>45751.0</c:v>
                </c:pt>
                <c:pt idx="24">
                  <c:v>45754.0</c:v>
                </c:pt>
                <c:pt idx="25">
                  <c:v>45755.0</c:v>
                </c:pt>
                <c:pt idx="26">
                  <c:v>45756.0</c:v>
                </c:pt>
                <c:pt idx="27">
                  <c:v>45757.0</c:v>
                </c:pt>
                <c:pt idx="28">
                  <c:v>45758.0</c:v>
                </c:pt>
                <c:pt idx="29">
                  <c:v>45761.0</c:v>
                </c:pt>
                <c:pt idx="30">
                  <c:v>45762.0</c:v>
                </c:pt>
                <c:pt idx="31">
                  <c:v>45763.0</c:v>
                </c:pt>
                <c:pt idx="32">
                  <c:v>45764.0</c:v>
                </c:pt>
                <c:pt idx="33">
                  <c:v>45769.0</c:v>
                </c:pt>
                <c:pt idx="34">
                  <c:v>45770.0</c:v>
                </c:pt>
                <c:pt idx="35">
                  <c:v>45771.0</c:v>
                </c:pt>
                <c:pt idx="36">
                  <c:v>45772.0</c:v>
                </c:pt>
                <c:pt idx="37">
                  <c:v>45775.0</c:v>
                </c:pt>
                <c:pt idx="38">
                  <c:v>45776.0</c:v>
                </c:pt>
                <c:pt idx="39">
                  <c:v>45777.0</c:v>
                </c:pt>
                <c:pt idx="40">
                  <c:v>45779.0</c:v>
                </c:pt>
                <c:pt idx="41">
                  <c:v>45782.0</c:v>
                </c:pt>
                <c:pt idx="42">
                  <c:v>45783.0</c:v>
                </c:pt>
                <c:pt idx="43">
                  <c:v>45784.0</c:v>
                </c:pt>
                <c:pt idx="44">
                  <c:v>45785.0</c:v>
                </c:pt>
                <c:pt idx="45">
                  <c:v>45786.0</c:v>
                </c:pt>
                <c:pt idx="46">
                  <c:v>45789.0</c:v>
                </c:pt>
                <c:pt idx="47">
                  <c:v>45790.0</c:v>
                </c:pt>
                <c:pt idx="48">
                  <c:v>45791.0</c:v>
                </c:pt>
                <c:pt idx="49">
                  <c:v>45792.0</c:v>
                </c:pt>
                <c:pt idx="50">
                  <c:v>45793.0</c:v>
                </c:pt>
                <c:pt idx="51">
                  <c:v>45796.0</c:v>
                </c:pt>
                <c:pt idx="52">
                  <c:v>45797.0</c:v>
                </c:pt>
                <c:pt idx="53">
                  <c:v>45798.0</c:v>
                </c:pt>
                <c:pt idx="54">
                  <c:v>45799.0</c:v>
                </c:pt>
                <c:pt idx="55">
                  <c:v>45800.0</c:v>
                </c:pt>
                <c:pt idx="56">
                  <c:v>45803.0</c:v>
                </c:pt>
                <c:pt idx="57">
                  <c:v>45804.0</c:v>
                </c:pt>
                <c:pt idx="58">
                  <c:v>45805.0</c:v>
                </c:pt>
                <c:pt idx="59">
                  <c:v>45806.0</c:v>
                </c:pt>
                <c:pt idx="60">
                  <c:v>45807.0</c:v>
                </c:pt>
                <c:pt idx="61">
                  <c:v>45810.0</c:v>
                </c:pt>
                <c:pt idx="62">
                  <c:v>45811.0</c:v>
                </c:pt>
                <c:pt idx="63">
                  <c:v>45812.0</c:v>
                </c:pt>
                <c:pt idx="64">
                  <c:v>45813.0</c:v>
                </c:pt>
                <c:pt idx="65">
                  <c:v>45814.0</c:v>
                </c:pt>
                <c:pt idx="66">
                  <c:v>45817.0</c:v>
                </c:pt>
                <c:pt idx="67">
                  <c:v>45818.0</c:v>
                </c:pt>
                <c:pt idx="68">
                  <c:v>45819.0</c:v>
                </c:pt>
                <c:pt idx="69">
                  <c:v>45820.0</c:v>
                </c:pt>
                <c:pt idx="70">
                  <c:v>45821.0</c:v>
                </c:pt>
                <c:pt idx="71">
                  <c:v>45824.0</c:v>
                </c:pt>
                <c:pt idx="72">
                  <c:v>45825.0</c:v>
                </c:pt>
                <c:pt idx="73">
                  <c:v>45826.0</c:v>
                </c:pt>
                <c:pt idx="74">
                  <c:v>45828.0</c:v>
                </c:pt>
                <c:pt idx="75">
                  <c:v>45831.0</c:v>
                </c:pt>
                <c:pt idx="76">
                  <c:v>45832.0</c:v>
                </c:pt>
                <c:pt idx="77">
                  <c:v>45833.0</c:v>
                </c:pt>
                <c:pt idx="78">
                  <c:v>45834.0</c:v>
                </c:pt>
                <c:pt idx="79">
                  <c:v>45835.0</c:v>
                </c:pt>
                <c:pt idx="80">
                  <c:v>45838.0</c:v>
                </c:pt>
                <c:pt idx="81">
                  <c:v>45839.0</c:v>
                </c:pt>
                <c:pt idx="82">
                  <c:v>45840.0</c:v>
                </c:pt>
                <c:pt idx="83">
                  <c:v>45841.0</c:v>
                </c:pt>
                <c:pt idx="84">
                  <c:v>45842.0</c:v>
                </c:pt>
                <c:pt idx="85">
                  <c:v>45845.0</c:v>
                </c:pt>
                <c:pt idx="86">
                  <c:v>45846.0</c:v>
                </c:pt>
                <c:pt idx="87">
                  <c:v>45847.0</c:v>
                </c:pt>
                <c:pt idx="88">
                  <c:v>45848.0</c:v>
                </c:pt>
                <c:pt idx="89">
                  <c:v>45849.0</c:v>
                </c:pt>
                <c:pt idx="90">
                  <c:v>45852.0</c:v>
                </c:pt>
                <c:pt idx="91">
                  <c:v>45853.0</c:v>
                </c:pt>
                <c:pt idx="92">
                  <c:v>45854.0</c:v>
                </c:pt>
                <c:pt idx="93">
                  <c:v>45855.0</c:v>
                </c:pt>
                <c:pt idx="94">
                  <c:v>45856.0</c:v>
                </c:pt>
                <c:pt idx="95">
                  <c:v>45859.0</c:v>
                </c:pt>
                <c:pt idx="96">
                  <c:v>45860.0</c:v>
                </c:pt>
                <c:pt idx="97">
                  <c:v>45861.0</c:v>
                </c:pt>
                <c:pt idx="98">
                  <c:v>45862.0</c:v>
                </c:pt>
                <c:pt idx="99">
                  <c:v>45863.0</c:v>
                </c:pt>
                <c:pt idx="100">
                  <c:v>45866.0</c:v>
                </c:pt>
                <c:pt idx="101">
                  <c:v>45867.0</c:v>
                </c:pt>
                <c:pt idx="102">
                  <c:v>45868.0</c:v>
                </c:pt>
                <c:pt idx="103">
                  <c:v>45869.0</c:v>
                </c:pt>
                <c:pt idx="104">
                  <c:v>45870.0</c:v>
                </c:pt>
                <c:pt idx="105">
                  <c:v>45873.0</c:v>
                </c:pt>
                <c:pt idx="106">
                  <c:v>45874.0</c:v>
                </c:pt>
                <c:pt idx="107">
                  <c:v>45875.0</c:v>
                </c:pt>
                <c:pt idx="108">
                  <c:v>45876.0</c:v>
                </c:pt>
                <c:pt idx="109">
                  <c:v>45877.0</c:v>
                </c:pt>
                <c:pt idx="110">
                  <c:v>45880.0</c:v>
                </c:pt>
                <c:pt idx="111">
                  <c:v>45881.0</c:v>
                </c:pt>
                <c:pt idx="112">
                  <c:v>45882.0</c:v>
                </c:pt>
                <c:pt idx="113">
                  <c:v>45883.0</c:v>
                </c:pt>
                <c:pt idx="114">
                  <c:v>45884.0</c:v>
                </c:pt>
                <c:pt idx="115">
                  <c:v>45887.0</c:v>
                </c:pt>
                <c:pt idx="116">
                  <c:v>45888.0</c:v>
                </c:pt>
                <c:pt idx="117">
                  <c:v>45889.0</c:v>
                </c:pt>
                <c:pt idx="118">
                  <c:v>45890.0</c:v>
                </c:pt>
                <c:pt idx="119">
                  <c:v>45891.0</c:v>
                </c:pt>
                <c:pt idx="120">
                  <c:v>45894.0</c:v>
                </c:pt>
                <c:pt idx="121">
                  <c:v>45895.0</c:v>
                </c:pt>
                <c:pt idx="122">
                  <c:v>45896.0</c:v>
                </c:pt>
                <c:pt idx="123">
                  <c:v>45897.0</c:v>
                </c:pt>
                <c:pt idx="124">
                  <c:v>45898.0</c:v>
                </c:pt>
                <c:pt idx="125">
                  <c:v>45901.0</c:v>
                </c:pt>
                <c:pt idx="126">
                  <c:v>45902.0</c:v>
                </c:pt>
                <c:pt idx="127">
                  <c:v>45903.0</c:v>
                </c:pt>
                <c:pt idx="128">
                  <c:v>45904.0</c:v>
                </c:pt>
                <c:pt idx="129">
                  <c:v>45905.0</c:v>
                </c:pt>
                <c:pt idx="130">
                  <c:v>45908.0</c:v>
                </c:pt>
                <c:pt idx="131">
                  <c:v>45909.0</c:v>
                </c:pt>
                <c:pt idx="132">
                  <c:v>45910.0</c:v>
                </c:pt>
                <c:pt idx="133">
                  <c:v>45911.0</c:v>
                </c:pt>
                <c:pt idx="134">
                  <c:v>45912.0</c:v>
                </c:pt>
                <c:pt idx="135">
                  <c:v>45915.0</c:v>
                </c:pt>
                <c:pt idx="136">
                  <c:v>45916.0</c:v>
                </c:pt>
                <c:pt idx="137">
                  <c:v>45917.0</c:v>
                </c:pt>
                <c:pt idx="138">
                  <c:v>45918.0</c:v>
                </c:pt>
                <c:pt idx="139">
                  <c:v>45919.0</c:v>
                </c:pt>
                <c:pt idx="140">
                  <c:v>45922.0</c:v>
                </c:pt>
                <c:pt idx="141">
                  <c:v>45923.0</c:v>
                </c:pt>
                <c:pt idx="142">
                  <c:v>45924.0</c:v>
                </c:pt>
                <c:pt idx="143">
                  <c:v>45925.0</c:v>
                </c:pt>
                <c:pt idx="144">
                  <c:v>45926.0</c:v>
                </c:pt>
                <c:pt idx="145">
                  <c:v>45929.0</c:v>
                </c:pt>
                <c:pt idx="146">
                  <c:v>45930.0</c:v>
                </c:pt>
                <c:pt idx="147">
                  <c:v>45931.0</c:v>
                </c:pt>
                <c:pt idx="148">
                  <c:v>45932.0</c:v>
                </c:pt>
                <c:pt idx="149">
                  <c:v>45933.0</c:v>
                </c:pt>
                <c:pt idx="150">
                  <c:v>45936.0</c:v>
                </c:pt>
                <c:pt idx="151">
                  <c:v>45937.0</c:v>
                </c:pt>
                <c:pt idx="152">
                  <c:v>45938.0</c:v>
                </c:pt>
                <c:pt idx="153">
                  <c:v>45939.0</c:v>
                </c:pt>
                <c:pt idx="154">
                  <c:v>45940.0</c:v>
                </c:pt>
                <c:pt idx="155">
                  <c:v>45943.0</c:v>
                </c:pt>
                <c:pt idx="156">
                  <c:v>45944.0</c:v>
                </c:pt>
                <c:pt idx="157">
                  <c:v>45945.0</c:v>
                </c:pt>
                <c:pt idx="158">
                  <c:v>45946.0</c:v>
                </c:pt>
                <c:pt idx="159">
                  <c:v>45947.0</c:v>
                </c:pt>
                <c:pt idx="160">
                  <c:v>45950.0</c:v>
                </c:pt>
                <c:pt idx="161">
                  <c:v>45951.0</c:v>
                </c:pt>
                <c:pt idx="162">
                  <c:v>45952.0</c:v>
                </c:pt>
                <c:pt idx="163">
                  <c:v>45953.0</c:v>
                </c:pt>
                <c:pt idx="164">
                  <c:v>45954.0</c:v>
                </c:pt>
                <c:pt idx="165">
                  <c:v>45957.0</c:v>
                </c:pt>
                <c:pt idx="166">
                  <c:v>45958.0</c:v>
                </c:pt>
                <c:pt idx="167">
                  <c:v>45959.0</c:v>
                </c:pt>
                <c:pt idx="168">
                  <c:v>45960.0</c:v>
                </c:pt>
                <c:pt idx="169">
                  <c:v>45961.0</c:v>
                </c:pt>
                <c:pt idx="170">
                  <c:v>45964.0</c:v>
                </c:pt>
                <c:pt idx="171">
                  <c:v>45965.0</c:v>
                </c:pt>
                <c:pt idx="172">
                  <c:v>45966.0</c:v>
                </c:pt>
                <c:pt idx="173">
                  <c:v>45967.0</c:v>
                </c:pt>
                <c:pt idx="174">
                  <c:v>45968.0</c:v>
                </c:pt>
                <c:pt idx="175">
                  <c:v>45971.0</c:v>
                </c:pt>
                <c:pt idx="176">
                  <c:v>45972.0</c:v>
                </c:pt>
                <c:pt idx="177">
                  <c:v>45973.0</c:v>
                </c:pt>
                <c:pt idx="178">
                  <c:v>45974.0</c:v>
                </c:pt>
                <c:pt idx="179">
                  <c:v>45975.0</c:v>
                </c:pt>
                <c:pt idx="180">
                  <c:v>45978.0</c:v>
                </c:pt>
                <c:pt idx="181">
                  <c:v>45979.0</c:v>
                </c:pt>
                <c:pt idx="182">
                  <c:v>45980.0</c:v>
                </c:pt>
                <c:pt idx="183">
                  <c:v>45982.0</c:v>
                </c:pt>
                <c:pt idx="184">
                  <c:v>45985.0</c:v>
                </c:pt>
                <c:pt idx="185">
                  <c:v>45986.0</c:v>
                </c:pt>
                <c:pt idx="186">
                  <c:v>45987.0</c:v>
                </c:pt>
                <c:pt idx="187">
                  <c:v>45988.0</c:v>
                </c:pt>
                <c:pt idx="188">
                  <c:v>45989.0</c:v>
                </c:pt>
                <c:pt idx="189">
                  <c:v>45992.0</c:v>
                </c:pt>
                <c:pt idx="190">
                  <c:v>45993.0</c:v>
                </c:pt>
                <c:pt idx="191">
                  <c:v>45994.0</c:v>
                </c:pt>
                <c:pt idx="192">
                  <c:v>45995.0</c:v>
                </c:pt>
                <c:pt idx="193">
                  <c:v>45996.0</c:v>
                </c:pt>
                <c:pt idx="194">
                  <c:v>45999.0</c:v>
                </c:pt>
                <c:pt idx="195">
                  <c:v>46000.0</c:v>
                </c:pt>
                <c:pt idx="196">
                  <c:v>46001.0</c:v>
                </c:pt>
                <c:pt idx="197">
                  <c:v>46002.0</c:v>
                </c:pt>
                <c:pt idx="198">
                  <c:v>46003.0</c:v>
                </c:pt>
                <c:pt idx="199">
                  <c:v>46006.0</c:v>
                </c:pt>
                <c:pt idx="200">
                  <c:v>46007.0</c:v>
                </c:pt>
                <c:pt idx="201">
                  <c:v>46008.0</c:v>
                </c:pt>
                <c:pt idx="202">
                  <c:v>46009.0</c:v>
                </c:pt>
                <c:pt idx="203">
                  <c:v>46010.0</c:v>
                </c:pt>
                <c:pt idx="204">
                  <c:v>46013.0</c:v>
                </c:pt>
                <c:pt idx="205">
                  <c:v>46014.0</c:v>
                </c:pt>
                <c:pt idx="206">
                  <c:v>46017.0</c:v>
                </c:pt>
                <c:pt idx="207">
                  <c:v>46020.0</c:v>
                </c:pt>
                <c:pt idx="208">
                  <c:v>46021.0</c:v>
                </c:pt>
                <c:pt idx="209">
                  <c:v>46024.0</c:v>
                </c:pt>
                <c:pt idx="210">
                  <c:v>46027.0</c:v>
                </c:pt>
                <c:pt idx="211">
                  <c:v>46028.0</c:v>
                </c:pt>
                <c:pt idx="212">
                  <c:v>46029.0</c:v>
                </c:pt>
                <c:pt idx="213">
                  <c:v>46030.0</c:v>
                </c:pt>
                <c:pt idx="214">
                  <c:v>46031.0</c:v>
                </c:pt>
                <c:pt idx="215">
                  <c:v>46034.0</c:v>
                </c:pt>
                <c:pt idx="216">
                  <c:v>46035.0</c:v>
                </c:pt>
                <c:pt idx="217">
                  <c:v>46036.0</c:v>
                </c:pt>
                <c:pt idx="218">
                  <c:v>46037.0</c:v>
                </c:pt>
                <c:pt idx="219">
                  <c:v>46038.0</c:v>
                </c:pt>
                <c:pt idx="220">
                  <c:v>46041.0</c:v>
                </c:pt>
                <c:pt idx="221">
                  <c:v>46042.0</c:v>
                </c:pt>
                <c:pt idx="222">
                  <c:v>46043.0</c:v>
                </c:pt>
                <c:pt idx="223">
                  <c:v>46044.0</c:v>
                </c:pt>
                <c:pt idx="224">
                  <c:v>46045.0</c:v>
                </c:pt>
                <c:pt idx="225">
                  <c:v>46048.0</c:v>
                </c:pt>
                <c:pt idx="226">
                  <c:v>46049.0</c:v>
                </c:pt>
                <c:pt idx="227">
                  <c:v>46050.0</c:v>
                </c:pt>
                <c:pt idx="228">
                  <c:v>46051.0</c:v>
                </c:pt>
                <c:pt idx="229">
                  <c:v>46052.0</c:v>
                </c:pt>
                <c:pt idx="230">
                  <c:v>46055.0</c:v>
                </c:pt>
                <c:pt idx="231">
                  <c:v>46056.0</c:v>
                </c:pt>
                <c:pt idx="232">
                  <c:v>46057.0</c:v>
                </c:pt>
                <c:pt idx="233">
                  <c:v>46058.0</c:v>
                </c:pt>
                <c:pt idx="234">
                  <c:v>46059.0</c:v>
                </c:pt>
                <c:pt idx="235">
                  <c:v>46062.0</c:v>
                </c:pt>
                <c:pt idx="236">
                  <c:v>46063.0</c:v>
                </c:pt>
                <c:pt idx="237">
                  <c:v>46064.0</c:v>
                </c:pt>
                <c:pt idx="238">
                  <c:v>46065.0</c:v>
                </c:pt>
                <c:pt idx="239">
                  <c:v>46066.0</c:v>
                </c:pt>
                <c:pt idx="240">
                  <c:v>46071.0</c:v>
                </c:pt>
                <c:pt idx="241">
                  <c:v>46072.0</c:v>
                </c:pt>
                <c:pt idx="242">
                  <c:v>46073.0</c:v>
                </c:pt>
                <c:pt idx="243">
                  <c:v>46076.0</c:v>
                </c:pt>
                <c:pt idx="244">
                  <c:v>46077.0</c:v>
                </c:pt>
                <c:pt idx="245">
                  <c:v>46078.0</c:v>
                </c:pt>
                <c:pt idx="246">
                  <c:v>46079.0</c:v>
                </c:pt>
                <c:pt idx="247">
                  <c:v>46080.0</c:v>
                </c:pt>
                <c:pt idx="248">
                  <c:v>46083.0</c:v>
                </c:pt>
                <c:pt idx="249">
                  <c:v>46084.0</c:v>
                </c:pt>
                <c:pt idx="250">
                  <c:v>46085.0</c:v>
                </c:pt>
                <c:pt idx="251">
                  <c:v>46086.0</c:v>
                </c:pt>
                <c:pt idx="252">
                  <c:v>46087.0</c:v>
                </c:pt>
                <c:pt idx="253">
                  <c:v>46090.0</c:v>
                </c:pt>
                <c:pt idx="254">
                  <c:v>46091.0</c:v>
                </c:pt>
                <c:pt idx="255">
                  <c:v>46092.0</c:v>
                </c:pt>
                <c:pt idx="256">
                  <c:v>46093.0</c:v>
                </c:pt>
                <c:pt idx="257">
                  <c:v>46094.0</c:v>
                </c:pt>
                <c:pt idx="258">
                  <c:v>46097.0</c:v>
                </c:pt>
                <c:pt idx="259">
                  <c:v>46098.0</c:v>
                </c:pt>
                <c:pt idx="260">
                  <c:v>46099.0</c:v>
                </c:pt>
                <c:pt idx="261">
                  <c:v>46100.0</c:v>
                </c:pt>
                <c:pt idx="262">
                  <c:v>46101.0</c:v>
                </c:pt>
                <c:pt idx="263">
                  <c:v>46104.0</c:v>
                </c:pt>
                <c:pt idx="264">
                  <c:v>46105.0</c:v>
                </c:pt>
                <c:pt idx="265">
                  <c:v>46106.0</c:v>
                </c:pt>
                <c:pt idx="266">
                  <c:v>46107.0</c:v>
                </c:pt>
                <c:pt idx="267">
                  <c:v>46108.0</c:v>
                </c:pt>
                <c:pt idx="268">
                  <c:v>46111.0</c:v>
                </c:pt>
                <c:pt idx="269">
                  <c:v>46112.0</c:v>
                </c:pt>
                <c:pt idx="270">
                  <c:v>46113.0</c:v>
                </c:pt>
                <c:pt idx="271">
                  <c:v>46114.0</c:v>
                </c:pt>
                <c:pt idx="272">
                  <c:v>46118.0</c:v>
                </c:pt>
                <c:pt idx="273">
                  <c:v>46119.0</c:v>
                </c:pt>
                <c:pt idx="274">
                  <c:v>46120.0</c:v>
                </c:pt>
                <c:pt idx="275">
                  <c:v>46121.0</c:v>
                </c:pt>
                <c:pt idx="276">
                  <c:v>46122.0</c:v>
                </c:pt>
                <c:pt idx="277">
                  <c:v>46125.0</c:v>
                </c:pt>
                <c:pt idx="278">
                  <c:v>46126.0</c:v>
                </c:pt>
                <c:pt idx="279">
                  <c:v>46127.0</c:v>
                </c:pt>
                <c:pt idx="280">
                  <c:v>46128.0</c:v>
                </c:pt>
                <c:pt idx="281">
                  <c:v>46129.0</c:v>
                </c:pt>
                <c:pt idx="282">
                  <c:v>46132.0</c:v>
                </c:pt>
                <c:pt idx="283">
                  <c:v>46134.0</c:v>
                </c:pt>
                <c:pt idx="284">
                  <c:v>46135.0</c:v>
                </c:pt>
                <c:pt idx="285">
                  <c:v>46136.0</c:v>
                </c:pt>
                <c:pt idx="286">
                  <c:v>46139.0</c:v>
                </c:pt>
                <c:pt idx="287">
                  <c:v>46140.0</c:v>
                </c:pt>
                <c:pt idx="288">
                  <c:v>46141.0</c:v>
                </c:pt>
                <c:pt idx="289">
                  <c:v>46142.0</c:v>
                </c:pt>
                <c:pt idx="290">
                  <c:v>46146.0</c:v>
                </c:pt>
                <c:pt idx="291">
                  <c:v>46147.0</c:v>
                </c:pt>
                <c:pt idx="292">
                  <c:v>46148.0</c:v>
                </c:pt>
                <c:pt idx="293">
                  <c:v>46149.0</c:v>
                </c:pt>
                <c:pt idx="294">
                  <c:v>46150.0</c:v>
                </c:pt>
                <c:pt idx="295">
                  <c:v>46153.0</c:v>
                </c:pt>
                <c:pt idx="296">
                  <c:v>46154.0</c:v>
                </c:pt>
                <c:pt idx="297">
                  <c:v>46155.0</c:v>
                </c:pt>
                <c:pt idx="298">
                  <c:v>46156.0</c:v>
                </c:pt>
                <c:pt idx="299">
                  <c:v>46157.0</c:v>
                </c:pt>
                <c:pt idx="300">
                  <c:v>46160.0</c:v>
                </c:pt>
                <c:pt idx="301">
                  <c:v>46161.0</c:v>
                </c:pt>
                <c:pt idx="302">
                  <c:v>46162.0</c:v>
                </c:pt>
                <c:pt idx="303">
                  <c:v>46163.0</c:v>
                </c:pt>
                <c:pt idx="304">
                  <c:v>46164.0</c:v>
                </c:pt>
                <c:pt idx="305">
                  <c:v>46167.0</c:v>
                </c:pt>
                <c:pt idx="306">
                  <c:v>46168.0</c:v>
                </c:pt>
                <c:pt idx="307">
                  <c:v>46169.0</c:v>
                </c:pt>
                <c:pt idx="308">
                  <c:v>46170.0</c:v>
                </c:pt>
                <c:pt idx="309">
                  <c:v>46171.0</c:v>
                </c:pt>
                <c:pt idx="310">
                  <c:v>46174.0</c:v>
                </c:pt>
                <c:pt idx="311">
                  <c:v>46175.0</c:v>
                </c:pt>
                <c:pt idx="312">
                  <c:v>46176.0</c:v>
                </c:pt>
                <c:pt idx="313">
                  <c:v>46178.0</c:v>
                </c:pt>
                <c:pt idx="314">
                  <c:v>46181.0</c:v>
                </c:pt>
                <c:pt idx="315">
                  <c:v>46182.0</c:v>
                </c:pt>
                <c:pt idx="316">
                  <c:v>46183.0</c:v>
                </c:pt>
                <c:pt idx="317">
                  <c:v>46184.0</c:v>
                </c:pt>
                <c:pt idx="318">
                  <c:v>46185.0</c:v>
                </c:pt>
                <c:pt idx="319">
                  <c:v>46188.0</c:v>
                </c:pt>
                <c:pt idx="320">
                  <c:v>46189.0</c:v>
                </c:pt>
                <c:pt idx="321">
                  <c:v>46190.0</c:v>
                </c:pt>
                <c:pt idx="322">
                  <c:v>46191.0</c:v>
                </c:pt>
                <c:pt idx="323">
                  <c:v>46192.0</c:v>
                </c:pt>
                <c:pt idx="324">
                  <c:v>46195.0</c:v>
                </c:pt>
                <c:pt idx="325">
                  <c:v>46196.0</c:v>
                </c:pt>
                <c:pt idx="326">
                  <c:v>46197.0</c:v>
                </c:pt>
                <c:pt idx="327">
                  <c:v>46198.0</c:v>
                </c:pt>
                <c:pt idx="328">
                  <c:v>46199.0</c:v>
                </c:pt>
                <c:pt idx="329">
                  <c:v>46202.0</c:v>
                </c:pt>
                <c:pt idx="330">
                  <c:v>46203.0</c:v>
                </c:pt>
                <c:pt idx="331">
                  <c:v>46204.0</c:v>
                </c:pt>
                <c:pt idx="332">
                  <c:v>46205.0</c:v>
                </c:pt>
                <c:pt idx="333">
                  <c:v>46206.0</c:v>
                </c:pt>
                <c:pt idx="334">
                  <c:v>46209.0</c:v>
                </c:pt>
                <c:pt idx="335">
                  <c:v>46210.0</c:v>
                </c:pt>
                <c:pt idx="336">
                  <c:v>46211.0</c:v>
                </c:pt>
                <c:pt idx="337">
                  <c:v>46212.0</c:v>
                </c:pt>
                <c:pt idx="338">
                  <c:v>46213.0</c:v>
                </c:pt>
                <c:pt idx="339">
                  <c:v>46216.0</c:v>
                </c:pt>
                <c:pt idx="340">
                  <c:v>46217.0</c:v>
                </c:pt>
                <c:pt idx="341">
                  <c:v>46218.0</c:v>
                </c:pt>
                <c:pt idx="342">
                  <c:v>46219.0</c:v>
                </c:pt>
                <c:pt idx="343">
                  <c:v>46220.0</c:v>
                </c:pt>
                <c:pt idx="344">
                  <c:v>46223.0</c:v>
                </c:pt>
                <c:pt idx="345">
                  <c:v>46224.0</c:v>
                </c:pt>
                <c:pt idx="346">
                  <c:v>46225.0</c:v>
                </c:pt>
                <c:pt idx="347">
                  <c:v>46226.0</c:v>
                </c:pt>
                <c:pt idx="348">
                  <c:v>46227.0</c:v>
                </c:pt>
                <c:pt idx="349">
                  <c:v>46230.0</c:v>
                </c:pt>
                <c:pt idx="350">
                  <c:v>46231.0</c:v>
                </c:pt>
                <c:pt idx="351">
                  <c:v>46232.0</c:v>
                </c:pt>
                <c:pt idx="352">
                  <c:v>46233.0</c:v>
                </c:pt>
                <c:pt idx="353">
                  <c:v>46234.0</c:v>
                </c:pt>
                <c:pt idx="354">
                  <c:v>46237.0</c:v>
                </c:pt>
                <c:pt idx="355">
                  <c:v>46238.0</c:v>
                </c:pt>
                <c:pt idx="356">
                  <c:v>46239.0</c:v>
                </c:pt>
                <c:pt idx="357">
                  <c:v>46240.0</c:v>
                </c:pt>
                <c:pt idx="358">
                  <c:v>46241.0</c:v>
                </c:pt>
                <c:pt idx="359">
                  <c:v>46244.0</c:v>
                </c:pt>
                <c:pt idx="360">
                  <c:v>46245.0</c:v>
                </c:pt>
                <c:pt idx="361">
                  <c:v>46246.0</c:v>
                </c:pt>
                <c:pt idx="362">
                  <c:v>46247.0</c:v>
                </c:pt>
                <c:pt idx="363">
                  <c:v>46248.0</c:v>
                </c:pt>
                <c:pt idx="364">
                  <c:v>46251.0</c:v>
                </c:pt>
                <c:pt idx="365">
                  <c:v>46252.0</c:v>
                </c:pt>
                <c:pt idx="366">
                  <c:v>46253.0</c:v>
                </c:pt>
                <c:pt idx="367">
                  <c:v>46254.0</c:v>
                </c:pt>
                <c:pt idx="368">
                  <c:v>46255.0</c:v>
                </c:pt>
                <c:pt idx="369">
                  <c:v>46258.0</c:v>
                </c:pt>
                <c:pt idx="370">
                  <c:v>46259.0</c:v>
                </c:pt>
                <c:pt idx="371">
                  <c:v>46260.0</c:v>
                </c:pt>
                <c:pt idx="372">
                  <c:v>46261.0</c:v>
                </c:pt>
                <c:pt idx="373">
                  <c:v>46262.0</c:v>
                </c:pt>
                <c:pt idx="374">
                  <c:v>46265.0</c:v>
                </c:pt>
              </c:numCache>
            </c:numRef>
          </c:cat>
          <c:val>
            <c:numRef>
              <c:f>Sheet1!$B$2:$B$376</c:f>
              <c:numCache>
                <c:formatCode>General</c:formatCode>
                <c:ptCount val="375"/>
                <c:pt idx="0">
                  <c:v>100.0</c:v>
                </c:pt>
                <c:pt idx="1">
                  <c:v>99.92527654688196</c:v>
                </c:pt>
                <c:pt idx="2">
                  <c:v>100.3657370193484</c:v>
                </c:pt>
                <c:pt idx="3">
                  <c:v>101.5231769402188</c:v>
                </c:pt>
                <c:pt idx="4">
                  <c:v>101.0105231128924</c:v>
                </c:pt>
                <c:pt idx="5">
                  <c:v>100.3439320419304</c:v>
                </c:pt>
                <c:pt idx="6">
                  <c:v>100.7849501897097</c:v>
                </c:pt>
                <c:pt idx="7">
                  <c:v>102.2174680179838</c:v>
                </c:pt>
                <c:pt idx="8">
                  <c:v>103.6198584177942</c:v>
                </c:pt>
                <c:pt idx="9">
                  <c:v>104.6233952584928</c:v>
                </c:pt>
                <c:pt idx="10">
                  <c:v>105.7351202982695</c:v>
                </c:pt>
                <c:pt idx="11">
                  <c:v>106.6728572309208</c:v>
                </c:pt>
                <c:pt idx="12">
                  <c:v>106.3159110404365</c:v>
                </c:pt>
                <c:pt idx="13">
                  <c:v>106.4850273141834</c:v>
                </c:pt>
                <c:pt idx="14">
                  <c:v>106.0541853776067</c:v>
                </c:pt>
                <c:pt idx="15">
                  <c:v>106.6449612763338</c:v>
                </c:pt>
                <c:pt idx="16">
                  <c:v>107.0770014898538</c:v>
                </c:pt>
                <c:pt idx="17">
                  <c:v>107.851466152689</c:v>
                </c:pt>
                <c:pt idx="18">
                  <c:v>106.8624134473304</c:v>
                </c:pt>
                <c:pt idx="19">
                  <c:v>105.1699954109105</c:v>
                </c:pt>
                <c:pt idx="20">
                  <c:v>105.8889162206119</c:v>
                </c:pt>
                <c:pt idx="21">
                  <c:v>105.7102703379961</c:v>
                </c:pt>
                <c:pt idx="22">
                  <c:v>105.9759728411399</c:v>
                </c:pt>
                <c:pt idx="23">
                  <c:v>102.8404683036502</c:v>
                </c:pt>
                <c:pt idx="24">
                  <c:v>101.6097980907579</c:v>
                </c:pt>
                <c:pt idx="25">
                  <c:v>100.2950985828571</c:v>
                </c:pt>
                <c:pt idx="26">
                  <c:v>103.6040911749073</c:v>
                </c:pt>
                <c:pt idx="27">
                  <c:v>102.4164675516689</c:v>
                </c:pt>
                <c:pt idx="28">
                  <c:v>103.3221325889567</c:v>
                </c:pt>
                <c:pt idx="29">
                  <c:v>104.5757297696954</c:v>
                </c:pt>
                <c:pt idx="30">
                  <c:v>104.6219546347885</c:v>
                </c:pt>
                <c:pt idx="31">
                  <c:v>103.9433448143189</c:v>
                </c:pt>
                <c:pt idx="32">
                  <c:v>104.9726171097515</c:v>
                </c:pt>
                <c:pt idx="33">
                  <c:v>106.1129691062825</c:v>
                </c:pt>
                <c:pt idx="34">
                  <c:v>106.9707096801323</c:v>
                </c:pt>
                <c:pt idx="35">
                  <c:v>108.8985708746015</c:v>
                </c:pt>
                <c:pt idx="36">
                  <c:v>108.5051848277099</c:v>
                </c:pt>
                <c:pt idx="37">
                  <c:v>108.9314633310611</c:v>
                </c:pt>
                <c:pt idx="38">
                  <c:v>108.6852765357339</c:v>
                </c:pt>
                <c:pt idx="39">
                  <c:v>108.8542280503015</c:v>
                </c:pt>
                <c:pt idx="40">
                  <c:v>109.5393698892885</c:v>
                </c:pt>
                <c:pt idx="41">
                  <c:v>107.8388063868519</c:v>
                </c:pt>
                <c:pt idx="42">
                  <c:v>107.2199244455393</c:v>
                </c:pt>
                <c:pt idx="43">
                  <c:v>107.3136350993585</c:v>
                </c:pt>
                <c:pt idx="44">
                  <c:v>108.7504970957317</c:v>
                </c:pt>
                <c:pt idx="45">
                  <c:v>109.4240225255112</c:v>
                </c:pt>
                <c:pt idx="46">
                  <c:v>109.5645507921857</c:v>
                </c:pt>
                <c:pt idx="47">
                  <c:v>111.5906640014297</c:v>
                </c:pt>
                <c:pt idx="48">
                  <c:v>111.5315987836543</c:v>
                </c:pt>
                <c:pt idx="49">
                  <c:v>112.2469048393484</c:v>
                </c:pt>
                <c:pt idx="50">
                  <c:v>112.2068887141689</c:v>
                </c:pt>
                <c:pt idx="51">
                  <c:v>112.3824788633333</c:v>
                </c:pt>
                <c:pt idx="52">
                  <c:v>113.0477053293925</c:v>
                </c:pt>
                <c:pt idx="53">
                  <c:v>111.0949737758685</c:v>
                </c:pt>
                <c:pt idx="54">
                  <c:v>111.0095661858191</c:v>
                </c:pt>
                <c:pt idx="55">
                  <c:v>111.2066488454797</c:v>
                </c:pt>
                <c:pt idx="56">
                  <c:v>111.3678672451926</c:v>
                </c:pt>
                <c:pt idx="57">
                  <c:v>111.8557496409106</c:v>
                </c:pt>
                <c:pt idx="58">
                  <c:v>111.3403266181015</c:v>
                </c:pt>
                <c:pt idx="59">
                  <c:v>110.9574989383019</c:v>
                </c:pt>
                <c:pt idx="60">
                  <c:v>110.2173499096812</c:v>
                </c:pt>
                <c:pt idx="61">
                  <c:v>110.1017573814298</c:v>
                </c:pt>
                <c:pt idx="62">
                  <c:v>110.6365424969137</c:v>
                </c:pt>
                <c:pt idx="63">
                  <c:v>109.8571774014018</c:v>
                </c:pt>
                <c:pt idx="64">
                  <c:v>109.8456518607265</c:v>
                </c:pt>
                <c:pt idx="65">
                  <c:v>109.8238201167444</c:v>
                </c:pt>
                <c:pt idx="66">
                  <c:v>109.229733491435</c:v>
                </c:pt>
                <c:pt idx="67">
                  <c:v>110.061112216292</c:v>
                </c:pt>
                <c:pt idx="68">
                  <c:v>110.7804470694942</c:v>
                </c:pt>
                <c:pt idx="69">
                  <c:v>111.1198406379393</c:v>
                </c:pt>
                <c:pt idx="70">
                  <c:v>110.7874557647656</c:v>
                </c:pt>
                <c:pt idx="71">
                  <c:v>112.5951898868518</c:v>
                </c:pt>
                <c:pt idx="72">
                  <c:v>112.4377392627312</c:v>
                </c:pt>
                <c:pt idx="73">
                  <c:v>111.65862517228</c:v>
                </c:pt>
                <c:pt idx="74">
                  <c:v>110.2657851576428</c:v>
                </c:pt>
                <c:pt idx="75">
                  <c:v>110.5107687243164</c:v>
                </c:pt>
                <c:pt idx="76">
                  <c:v>111.2779123479564</c:v>
                </c:pt>
                <c:pt idx="77">
                  <c:v>110.1652259214304</c:v>
                </c:pt>
                <c:pt idx="78">
                  <c:v>111.0330499697966</c:v>
                </c:pt>
                <c:pt idx="79">
                  <c:v>110.8509841592046</c:v>
                </c:pt>
                <c:pt idx="80">
                  <c:v>112.3430426755357</c:v>
                </c:pt>
                <c:pt idx="81">
                  <c:v>112.4351802239192</c:v>
                </c:pt>
                <c:pt idx="82">
                  <c:v>110.8011035574066</c:v>
                </c:pt>
                <c:pt idx="83">
                  <c:v>112.3463787644924</c:v>
                </c:pt>
                <c:pt idx="84">
                  <c:v>112.5880972606382</c:v>
                </c:pt>
                <c:pt idx="85">
                  <c:v>111.4675794779993</c:v>
                </c:pt>
                <c:pt idx="86">
                  <c:v>111.6079063419256</c:v>
                </c:pt>
                <c:pt idx="87">
                  <c:v>110.5646664598098</c:v>
                </c:pt>
                <c:pt idx="88">
                  <c:v>109.5354862297623</c:v>
                </c:pt>
                <c:pt idx="89">
                  <c:v>108.785613163541</c:v>
                </c:pt>
                <c:pt idx="90">
                  <c:v>107.6536098693333</c:v>
                </c:pt>
                <c:pt idx="91">
                  <c:v>108.3930476955167</c:v>
                </c:pt>
                <c:pt idx="92">
                  <c:v>108.3961030978104</c:v>
                </c:pt>
                <c:pt idx="93">
                  <c:v>108.659112932745</c:v>
                </c:pt>
                <c:pt idx="94">
                  <c:v>106.1780504966474</c:v>
                </c:pt>
                <c:pt idx="95">
                  <c:v>105.9769414122492</c:v>
                </c:pt>
                <c:pt idx="96">
                  <c:v>105.567833643583</c:v>
                </c:pt>
                <c:pt idx="97">
                  <c:v>106.5541200513921</c:v>
                </c:pt>
                <c:pt idx="98">
                  <c:v>104.9399268930214</c:v>
                </c:pt>
                <c:pt idx="99">
                  <c:v>104.7602746564614</c:v>
                </c:pt>
                <c:pt idx="100">
                  <c:v>103.5616840829356</c:v>
                </c:pt>
                <c:pt idx="101">
                  <c:v>103.8491888517766</c:v>
                </c:pt>
                <c:pt idx="102">
                  <c:v>104.9565144039718</c:v>
                </c:pt>
                <c:pt idx="103">
                  <c:v>103.9481433929939</c:v>
                </c:pt>
                <c:pt idx="104">
                  <c:v>103.7842573874133</c:v>
                </c:pt>
                <c:pt idx="105">
                  <c:v>104.1538809965954</c:v>
                </c:pt>
                <c:pt idx="106">
                  <c:v>104.2830999068111</c:v>
                </c:pt>
                <c:pt idx="107">
                  <c:v>106.034412487924</c:v>
                </c:pt>
                <c:pt idx="108">
                  <c:v>108.727129669625</c:v>
                </c:pt>
                <c:pt idx="109">
                  <c:v>108.2694129729731</c:v>
                </c:pt>
                <c:pt idx="110">
                  <c:v>107.9041839808268</c:v>
                </c:pt>
                <c:pt idx="111">
                  <c:v>109.6246560258072</c:v>
                </c:pt>
                <c:pt idx="112">
                  <c:v>107.8723927398974</c:v>
                </c:pt>
                <c:pt idx="113">
                  <c:v>107.5553444594271</c:v>
                </c:pt>
                <c:pt idx="114">
                  <c:v>107.5310647069102</c:v>
                </c:pt>
                <c:pt idx="115">
                  <c:v>107.8334227076503</c:v>
                </c:pt>
                <c:pt idx="116">
                  <c:v>105.5842363262691</c:v>
                </c:pt>
                <c:pt idx="117">
                  <c:v>105.9752240149815</c:v>
                </c:pt>
                <c:pt idx="118">
                  <c:v>105.7830093228512</c:v>
                </c:pt>
                <c:pt idx="119">
                  <c:v>108.3168404913958</c:v>
                </c:pt>
                <c:pt idx="120">
                  <c:v>108.54609941108</c:v>
                </c:pt>
                <c:pt idx="121">
                  <c:v>107.9660333584149</c:v>
                </c:pt>
                <c:pt idx="122">
                  <c:v>109.3691795772639</c:v>
                </c:pt>
                <c:pt idx="123">
                  <c:v>110.9669779752205</c:v>
                </c:pt>
                <c:pt idx="124">
                  <c:v>110.9221250261371</c:v>
                </c:pt>
                <c:pt idx="125">
                  <c:v>111.1043497247571</c:v>
                </c:pt>
                <c:pt idx="126">
                  <c:v>110.4596959045087</c:v>
                </c:pt>
                <c:pt idx="127">
                  <c:v>110.0901194737693</c:v>
                </c:pt>
                <c:pt idx="128">
                  <c:v>110.8500946821143</c:v>
                </c:pt>
                <c:pt idx="129">
                  <c:v>112.0958876585803</c:v>
                </c:pt>
                <c:pt idx="130">
                  <c:v>111.0424336313233</c:v>
                </c:pt>
                <c:pt idx="131">
                  <c:v>110.8953948095279</c:v>
                </c:pt>
                <c:pt idx="132">
                  <c:v>111.2982966106164</c:v>
                </c:pt>
                <c:pt idx="133">
                  <c:v>112.2820194992417</c:v>
                </c:pt>
                <c:pt idx="134">
                  <c:v>111.5532027847142</c:v>
                </c:pt>
                <c:pt idx="135">
                  <c:v>112.6894826246901</c:v>
                </c:pt>
                <c:pt idx="136">
                  <c:v>113.2122239325756</c:v>
                </c:pt>
                <c:pt idx="137">
                  <c:v>114.0767153993054</c:v>
                </c:pt>
                <c:pt idx="138">
                  <c:v>114.4610579803175</c:v>
                </c:pt>
                <c:pt idx="139">
                  <c:v>115.2063155412757</c:v>
                </c:pt>
                <c:pt idx="140">
                  <c:v>114.1803843864672</c:v>
                </c:pt>
                <c:pt idx="141">
                  <c:v>115.336711959366</c:v>
                </c:pt>
                <c:pt idx="142">
                  <c:v>114.767348661718</c:v>
                </c:pt>
                <c:pt idx="143">
                  <c:v>113.6725687674026</c:v>
                </c:pt>
                <c:pt idx="144">
                  <c:v>114.1978031550524</c:v>
                </c:pt>
                <c:pt idx="145">
                  <c:v>115.6563462050672</c:v>
                </c:pt>
                <c:pt idx="146">
                  <c:v>115.4232080199388</c:v>
                </c:pt>
                <c:pt idx="147">
                  <c:v>114.8578540173193</c:v>
                </c:pt>
                <c:pt idx="148">
                  <c:v>113.4953765921765</c:v>
                </c:pt>
                <c:pt idx="149">
                  <c:v>113.7055990777235</c:v>
                </c:pt>
                <c:pt idx="150">
                  <c:v>112.396511898087</c:v>
                </c:pt>
                <c:pt idx="151">
                  <c:v>110.5050796786845</c:v>
                </c:pt>
                <c:pt idx="152">
                  <c:v>110.765756758078</c:v>
                </c:pt>
                <c:pt idx="153">
                  <c:v>110.3433782010824</c:v>
                </c:pt>
                <c:pt idx="154">
                  <c:v>109.7723604591893</c:v>
                </c:pt>
                <c:pt idx="155">
                  <c:v>110.2613741225344</c:v>
                </c:pt>
                <c:pt idx="156">
                  <c:v>109.8837714236531</c:v>
                </c:pt>
                <c:pt idx="157">
                  <c:v>110.6275391699606</c:v>
                </c:pt>
                <c:pt idx="158">
                  <c:v>110.5057978687794</c:v>
                </c:pt>
                <c:pt idx="159">
                  <c:v>111.6840129639804</c:v>
                </c:pt>
                <c:pt idx="160">
                  <c:v>113.2225017825303</c:v>
                </c:pt>
                <c:pt idx="161">
                  <c:v>112.9477030513053</c:v>
                </c:pt>
                <c:pt idx="162">
                  <c:v>114.0296538217547</c:v>
                </c:pt>
                <c:pt idx="163">
                  <c:v>114.2061846754837</c:v>
                </c:pt>
                <c:pt idx="164">
                  <c:v>114.7574361196398</c:v>
                </c:pt>
                <c:pt idx="165">
                  <c:v>115.4040821155058</c:v>
                </c:pt>
                <c:pt idx="166">
                  <c:v>115.356342725475</c:v>
                </c:pt>
                <c:pt idx="167">
                  <c:v>116.0007644128643</c:v>
                </c:pt>
                <c:pt idx="168">
                  <c:v>116.4443524579697</c:v>
                </c:pt>
                <c:pt idx="169">
                  <c:v>117.4793932256025</c:v>
                </c:pt>
                <c:pt idx="170">
                  <c:v>118.2598438918008</c:v>
                </c:pt>
                <c:pt idx="171">
                  <c:v>118.6581781441748</c:v>
                </c:pt>
                <c:pt idx="172">
                  <c:v>120.5674859849647</c:v>
                </c:pt>
                <c:pt idx="173">
                  <c:v>120.1355440383873</c:v>
                </c:pt>
                <c:pt idx="174">
                  <c:v>121.1345102711804</c:v>
                </c:pt>
                <c:pt idx="175">
                  <c:v>121.9222528967424</c:v>
                </c:pt>
                <c:pt idx="176">
                  <c:v>123.9014788264827</c:v>
                </c:pt>
                <c:pt idx="177">
                  <c:v>123.0885073199696</c:v>
                </c:pt>
                <c:pt idx="178">
                  <c:v>122.9284721303272</c:v>
                </c:pt>
                <c:pt idx="179">
                  <c:v>123.9762284520971</c:v>
                </c:pt>
                <c:pt idx="180">
                  <c:v>122.8318020364881</c:v>
                </c:pt>
                <c:pt idx="181">
                  <c:v>122.7788512800055</c:v>
                </c:pt>
                <c:pt idx="182">
                  <c:v>122.0043163670469</c:v>
                </c:pt>
                <c:pt idx="183">
                  <c:v>121.2902229038986</c:v>
                </c:pt>
                <c:pt idx="184">
                  <c:v>121.998213346633</c:v>
                </c:pt>
                <c:pt idx="185">
                  <c:v>122.8085032088126</c:v>
                </c:pt>
                <c:pt idx="186">
                  <c:v>125.0856590157681</c:v>
                </c:pt>
                <c:pt idx="187">
                  <c:v>124.8161017463126</c:v>
                </c:pt>
                <c:pt idx="188">
                  <c:v>125.5958197442998</c:v>
                </c:pt>
                <c:pt idx="189">
                  <c:v>125.7775624896926</c:v>
                </c:pt>
                <c:pt idx="190">
                  <c:v>127.9536884619517</c:v>
                </c:pt>
                <c:pt idx="191">
                  <c:v>128.8369476154501</c:v>
                </c:pt>
                <c:pt idx="192">
                  <c:v>131.4644511266725</c:v>
                </c:pt>
                <c:pt idx="193">
                  <c:v>124.4482797017256</c:v>
                </c:pt>
                <c:pt idx="194">
                  <c:v>125.3192274601108</c:v>
                </c:pt>
                <c:pt idx="195">
                  <c:v>125.1456570436238</c:v>
                </c:pt>
                <c:pt idx="196">
                  <c:v>125.9213770572135</c:v>
                </c:pt>
                <c:pt idx="197">
                  <c:v>126.6985270700175</c:v>
                </c:pt>
                <c:pt idx="198">
                  <c:v>128.0856566890886</c:v>
                </c:pt>
                <c:pt idx="199">
                  <c:v>129.2838041925085</c:v>
                </c:pt>
                <c:pt idx="200">
                  <c:v>125.1326039739307</c:v>
                </c:pt>
                <c:pt idx="201">
                  <c:v>123.7056199862976</c:v>
                </c:pt>
                <c:pt idx="202">
                  <c:v>124.2138069152866</c:v>
                </c:pt>
                <c:pt idx="203">
                  <c:v>124.2581731874938</c:v>
                </c:pt>
                <c:pt idx="204">
                  <c:v>123.8181374880889</c:v>
                </c:pt>
                <c:pt idx="205">
                  <c:v>126.1809172783985</c:v>
                </c:pt>
                <c:pt idx="206">
                  <c:v>126.6731331228059</c:v>
                </c:pt>
                <c:pt idx="207">
                  <c:v>125.4047195618032</c:v>
                </c:pt>
                <c:pt idx="208">
                  <c:v>126.5017005730039</c:v>
                </c:pt>
                <c:pt idx="209">
                  <c:v>125.4730749575592</c:v>
                </c:pt>
                <c:pt idx="210">
                  <c:v>128.2477053789467</c:v>
                </c:pt>
                <c:pt idx="211">
                  <c:v>129.8682757469272</c:v>
                </c:pt>
                <c:pt idx="212">
                  <c:v>128.0135308039963</c:v>
                </c:pt>
                <c:pt idx="213">
                  <c:v>129.1889481437524</c:v>
                </c:pt>
                <c:pt idx="214">
                  <c:v>130.0831177375953</c:v>
                </c:pt>
                <c:pt idx="215">
                  <c:v>130.0398030158957</c:v>
                </c:pt>
                <c:pt idx="216">
                  <c:v>128.6483267727434</c:v>
                </c:pt>
                <c:pt idx="217">
                  <c:v>130.452459655569</c:v>
                </c:pt>
                <c:pt idx="218">
                  <c:v>130.7276343444539</c:v>
                </c:pt>
                <c:pt idx="219">
                  <c:v>129.6607925476221</c:v>
                </c:pt>
                <c:pt idx="220">
                  <c:v>129.6627602931479</c:v>
                </c:pt>
                <c:pt idx="221">
                  <c:v>130.7169838556645</c:v>
                </c:pt>
                <c:pt idx="222">
                  <c:v>134.7731841225318</c:v>
                </c:pt>
                <c:pt idx="223">
                  <c:v>137.9075597945387</c:v>
                </c:pt>
                <c:pt idx="224">
                  <c:v>140.079181113694</c:v>
                </c:pt>
                <c:pt idx="225">
                  <c:v>140.7158987215518</c:v>
                </c:pt>
                <c:pt idx="226">
                  <c:v>143.8023423699291</c:v>
                </c:pt>
                <c:pt idx="227">
                  <c:v>145.6765945309968</c:v>
                </c:pt>
                <c:pt idx="228">
                  <c:v>143.9125216751536</c:v>
                </c:pt>
                <c:pt idx="229">
                  <c:v>142.010128200301</c:v>
                </c:pt>
                <c:pt idx="230">
                  <c:v>142.629375020721</c:v>
                </c:pt>
                <c:pt idx="231">
                  <c:v>144.263617604132</c:v>
                </c:pt>
                <c:pt idx="232">
                  <c:v>140.9836832930194</c:v>
                </c:pt>
                <c:pt idx="233">
                  <c:v>141.5836786873661</c:v>
                </c:pt>
                <c:pt idx="234">
                  <c:v>142.7415070716192</c:v>
                </c:pt>
                <c:pt idx="235">
                  <c:v>145.7693575214474</c:v>
                </c:pt>
                <c:pt idx="236">
                  <c:v>146.1230232129507</c:v>
                </c:pt>
                <c:pt idx="237">
                  <c:v>147.8411249246856</c:v>
                </c:pt>
                <c:pt idx="238">
                  <c:v>145.4837907191339</c:v>
                </c:pt>
                <c:pt idx="239">
                  <c:v>144.8352662416538</c:v>
                </c:pt>
                <c:pt idx="240">
                  <c:v>145.1976278281571</c:v>
                </c:pt>
                <c:pt idx="241">
                  <c:v>146.9559367012912</c:v>
                </c:pt>
                <c:pt idx="242">
                  <c:v>148.7400820751216</c:v>
                </c:pt>
                <c:pt idx="243">
                  <c:v>146.3865084309319</c:v>
                </c:pt>
                <c:pt idx="244">
                  <c:v>149.0293786146838</c:v>
                </c:pt>
                <c:pt idx="245">
                  <c:v>147.5105803045589</c:v>
                </c:pt>
                <c:pt idx="246">
                  <c:v>147.6846498986351</c:v>
                </c:pt>
                <c:pt idx="247">
                  <c:v>145.8521237800005</c:v>
                </c:pt>
                <c:pt idx="248">
                  <c:v>146.7395537296468</c:v>
                </c:pt>
                <c:pt idx="249">
                  <c:v>141.9843560991046</c:v>
                </c:pt>
                <c:pt idx="250">
                  <c:v>144.7175065783601</c:v>
                </c:pt>
                <c:pt idx="251">
                  <c:v>140.3711489530089</c:v>
                </c:pt>
                <c:pt idx="252">
                  <c:v>139.5676698270672</c:v>
                </c:pt>
                <c:pt idx="253">
                  <c:v>140.0440061234354</c:v>
                </c:pt>
                <c:pt idx="254">
                  <c:v>142.8353460051733</c:v>
                </c:pt>
                <c:pt idx="255">
                  <c:v>143.5492773989092</c:v>
                </c:pt>
                <c:pt idx="256">
                  <c:v>140.0435137251673</c:v>
                </c:pt>
                <c:pt idx="257">
                  <c:v>138.130170119542</c:v>
                </c:pt>
                <c:pt idx="258">
                  <c:v>140.2749145296438</c:v>
                </c:pt>
                <c:pt idx="259">
                  <c:v>141.2377071691816</c:v>
                </c:pt>
                <c:pt idx="260">
                  <c:v>141.0164399231815</c:v>
                </c:pt>
                <c:pt idx="261">
                  <c:v>141.0387294916968</c:v>
                </c:pt>
                <c:pt idx="262">
                  <c:v>136.778442548992</c:v>
                </c:pt>
                <c:pt idx="263">
                  <c:v>142.3116264486864</c:v>
                </c:pt>
                <c:pt idx="264">
                  <c:v>142.8203564093773</c:v>
                </c:pt>
                <c:pt idx="265">
                  <c:v>145.6880350925454</c:v>
                </c:pt>
                <c:pt idx="266">
                  <c:v>142.7925272667644</c:v>
                </c:pt>
                <c:pt idx="267">
                  <c:v>141.6229483292309</c:v>
                </c:pt>
                <c:pt idx="268">
                  <c:v>141.7288174999347</c:v>
                </c:pt>
                <c:pt idx="269">
                  <c:v>146.6683924516375</c:v>
                </c:pt>
                <c:pt idx="270">
                  <c:v>147.4791238076437</c:v>
                </c:pt>
                <c:pt idx="271">
                  <c:v>147.453297080045</c:v>
                </c:pt>
                <c:pt idx="272">
                  <c:v>147.2442298003893</c:v>
                </c:pt>
                <c:pt idx="273">
                  <c:v>147.3331452429794</c:v>
                </c:pt>
                <c:pt idx="274">
                  <c:v>151.174138491517</c:v>
                </c:pt>
                <c:pt idx="275">
                  <c:v>154.1047113177836</c:v>
                </c:pt>
                <c:pt idx="276">
                  <c:v>155.0982664956897</c:v>
                </c:pt>
                <c:pt idx="277">
                  <c:v>155.5563924950268</c:v>
                </c:pt>
                <c:pt idx="278">
                  <c:v>156.499993602332</c:v>
                </c:pt>
                <c:pt idx="279">
                  <c:v>156.7125989515557</c:v>
                </c:pt>
                <c:pt idx="280">
                  <c:v>156.0111531422248</c:v>
                </c:pt>
                <c:pt idx="281">
                  <c:v>155.6173886896773</c:v>
                </c:pt>
                <c:pt idx="282">
                  <c:v>155.434268575446</c:v>
                </c:pt>
                <c:pt idx="283">
                  <c:v>152.4284567811569</c:v>
                </c:pt>
                <c:pt idx="284">
                  <c:v>150.1254537326085</c:v>
                </c:pt>
                <c:pt idx="285">
                  <c:v>150.0633957017944</c:v>
                </c:pt>
                <c:pt idx="286">
                  <c:v>148.6982798287574</c:v>
                </c:pt>
                <c:pt idx="287">
                  <c:v>147.2479231633987</c:v>
                </c:pt>
                <c:pt idx="288">
                  <c:v>144.2871569257911</c:v>
                </c:pt>
                <c:pt idx="289">
                  <c:v>145.8176596519596</c:v>
                </c:pt>
                <c:pt idx="290">
                  <c:v>145.2268609677709</c:v>
                </c:pt>
                <c:pt idx="291">
                  <c:v>146.3147691412697</c:v>
                </c:pt>
                <c:pt idx="292">
                  <c:v>147.5058806917078</c:v>
                </c:pt>
                <c:pt idx="293">
                  <c:v>144.656440879223</c:v>
                </c:pt>
                <c:pt idx="294">
                  <c:v>144.4317114846831</c:v>
                </c:pt>
                <c:pt idx="295">
                  <c:v>141.9339800881805</c:v>
                </c:pt>
                <c:pt idx="296">
                  <c:v>140.3966412793638</c:v>
                </c:pt>
                <c:pt idx="297">
                  <c:v>137.0052818568473</c:v>
                </c:pt>
                <c:pt idx="298">
                  <c:v>138.9916759137612</c:v>
                </c:pt>
                <c:pt idx="299">
                  <c:v>137.8831803068662</c:v>
                </c:pt>
                <c:pt idx="300">
                  <c:v>137.6327180744687</c:v>
                </c:pt>
                <c:pt idx="301">
                  <c:v>135.4654366379913</c:v>
                </c:pt>
                <c:pt idx="302">
                  <c:v>138.8377209263269</c:v>
                </c:pt>
                <c:pt idx="303">
                  <c:v>138.9223817743936</c:v>
                </c:pt>
                <c:pt idx="304">
                  <c:v>137.7624796393391</c:v>
                </c:pt>
                <c:pt idx="305">
                  <c:v>139.5336425632421</c:v>
                </c:pt>
                <c:pt idx="306">
                  <c:v>137.9721435151232</c:v>
                </c:pt>
                <c:pt idx="307">
                  <c:v>137.2079362199961</c:v>
                </c:pt>
                <c:pt idx="308">
                  <c:v>136.986838187326</c:v>
                </c:pt>
                <c:pt idx="309">
                  <c:v>136.0830970313843</c:v>
                </c:pt>
                <c:pt idx="310">
                  <c:v>135.1267095280223</c:v>
                </c:pt>
                <c:pt idx="311">
                  <c:v>135.9172827746606</c:v>
                </c:pt>
                <c:pt idx="312">
                  <c:v>132.3277518502373</c:v>
                </c:pt>
                <c:pt idx="313">
                  <c:v>132.278268065385</c:v>
                </c:pt>
                <c:pt idx="314">
                  <c:v>131.7666959176554</c:v>
                </c:pt>
                <c:pt idx="315">
                  <c:v>132.4617556509597</c:v>
                </c:pt>
                <c:pt idx="316">
                  <c:v>130.2266915155538</c:v>
                </c:pt>
                <c:pt idx="317">
                  <c:v>133.1147442980958</c:v>
                </c:pt>
                <c:pt idx="318">
                  <c:v>132.6066083476003</c:v>
                </c:pt>
                <c:pt idx="319">
                  <c:v>132.0461773951301</c:v>
                </c:pt>
                <c:pt idx="320">
                  <c:v>131.331421399718</c:v>
                </c:pt>
                <c:pt idx="321">
                  <c:v>130.3021812677053</c:v>
                </c:pt>
                <c:pt idx="322">
                  <c:v>129.9000635672022</c:v>
                </c:pt>
                <c:pt idx="323">
                  <c:v>129.8356110033194</c:v>
                </c:pt>
                <c:pt idx="324">
                  <c:v>131.6105659999363</c:v>
                </c:pt>
                <c:pt idx="325">
                  <c:v>132.09363945781</c:v>
                </c:pt>
                <c:pt idx="326">
                  <c:v>132.3505238818205</c:v>
                </c:pt>
                <c:pt idx="327">
                  <c:v>133.2961322662866</c:v>
                </c:pt>
                <c:pt idx="328">
                  <c:v>135.3208437324707</c:v>
                </c:pt>
                <c:pt idx="329">
                  <c:v>134.7053353104447</c:v>
                </c:pt>
                <c:pt idx="330">
                  <c:v>133.8182196842116</c:v>
                </c:pt>
                <c:pt idx="331">
                  <c:v>134.2119875928187</c:v>
                </c:pt>
                <c:pt idx="332">
                  <c:v>135.1169455383541</c:v>
                </c:pt>
                <c:pt idx="333">
                  <c:v>136.3738497828722</c:v>
                </c:pt>
                <c:pt idx="334">
                  <c:v>134.6565048880861</c:v>
                </c:pt>
                <c:pt idx="335">
                  <c:v>133.6082713901455</c:v>
                </c:pt>
                <c:pt idx="336">
                  <c:v>132.1762215737945</c:v>
                </c:pt>
                <c:pt idx="337">
                  <c:v>134.7934992024982</c:v>
                </c:pt>
                <c:pt idx="338">
                  <c:v>138.694370330029</c:v>
                </c:pt>
                <c:pt idx="339">
                  <c:v>136.7329140290008</c:v>
                </c:pt>
                <c:pt idx="340">
                  <c:v>137.5769326198502</c:v>
                </c:pt>
                <c:pt idx="341">
                  <c:v>138.0405057204791</c:v>
                </c:pt>
                <c:pt idx="342">
                  <c:v>135.7327717161809</c:v>
                </c:pt>
                <c:pt idx="343">
                  <c:v>134.7632205611235</c:v>
                </c:pt>
                <c:pt idx="344">
                  <c:v>134.1869554777258</c:v>
                </c:pt>
                <c:pt idx="345">
                  <c:v>133.1243221930398</c:v>
                </c:pt>
                <c:pt idx="346">
                  <c:v>135.9916940073675</c:v>
                </c:pt>
                <c:pt idx="347">
                  <c:v>134.7011223303317</c:v>
                </c:pt>
                <c:pt idx="348">
                  <c:v>133.0533533749273</c:v>
                </c:pt>
                <c:pt idx="349">
                  <c:v>135.1903854883973</c:v>
                </c:pt>
                <c:pt idx="350">
                  <c:v>136.7912431641292</c:v>
                </c:pt>
                <c:pt idx="351">
                  <c:v>133.6944699387846</c:v>
                </c:pt>
                <c:pt idx="352">
                  <c:v>136.5884619340252</c:v>
                </c:pt>
                <c:pt idx="353">
                  <c:v>136.8079232802448</c:v>
                </c:pt>
                <c:pt idx="354">
                  <c:v>137.584313430251</c:v>
                </c:pt>
                <c:pt idx="355">
                  <c:v>137.7849992047026</c:v>
                </c:pt>
                <c:pt idx="356">
                  <c:v>138.4117435411221</c:v>
                </c:pt>
                <c:pt idx="357">
                  <c:v>136.4445636926393</c:v>
                </c:pt>
                <c:pt idx="358">
                  <c:v>133.6888820161722</c:v>
                </c:pt>
                <c:pt idx="359">
                  <c:v>134.8549306698115</c:v>
                </c:pt>
                <c:pt idx="360">
                  <c:v>131.0821673675519</c:v>
                </c:pt>
                <c:pt idx="361">
                  <c:v>131.3592862519936</c:v>
                </c:pt>
                <c:pt idx="362">
                  <c:v>131.499675767355</c:v>
                </c:pt>
                <c:pt idx="363">
                  <c:v>132.3239262201036</c:v>
                </c:pt>
                <c:pt idx="364">
                  <c:v>131.9766360599197</c:v>
                </c:pt>
                <c:pt idx="365">
                  <c:v>131.4365952572366</c:v>
                </c:pt>
                <c:pt idx="366">
                  <c:v>131.5770344687592</c:v>
                </c:pt>
                <c:pt idx="367">
                  <c:v>130.2212014634722</c:v>
                </c:pt>
                <c:pt idx="368">
                  <c:v>132.21270406758</c:v>
                </c:pt>
                <c:pt idx="369">
                  <c:v>132.3656635480302</c:v>
                </c:pt>
                <c:pt idx="370">
                  <c:v>134.3212545735392</c:v>
                </c:pt>
                <c:pt idx="371">
                  <c:v>134.6202517869121</c:v>
                </c:pt>
                <c:pt idx="372">
                  <c:v>135.5078662568485</c:v>
                </c:pt>
                <c:pt idx="373">
                  <c:v>135.0486104020505</c:v>
                </c:pt>
                <c:pt idx="374">
                  <c:v>136.2677007605923</c:v>
                </c:pt>
              </c:numCache>
            </c:numRef>
          </c:val>
          <c:smooth val="0"/>
          <c:extLst>
            <c:ext xmlns:c16="http://schemas.microsoft.com/office/drawing/2014/chart" uri="{C3380CC4-5D6E-409C-BE32-E72D297353CC}">
              <c16:uniqueId val="{00000000-E7A6-40FB-B8E4-CDDE057B7709}"/>
            </c:ext>
          </c:extLst>
        </c:ser>
        <c:ser>
          <c:idx val="1"/>
          <c:order val="1"/>
          <c:tx>
            <c:strRef>
              <c:f>Sheet1!$C$1</c:f>
              <c:strCache>
                <c:ptCount val="1"/>
                <c:pt idx="0">
                  <c:v>Ibovespa</c:v>
                </c:pt>
              </c:strCache>
            </c:strRef>
          </c:tx>
          <c:spPr>
            <a:ln w="22225" cap="rnd">
              <a:solidFill>
                <a:srgbClr val="7E7E7E"/>
              </a:solidFill>
              <a:round/>
            </a:ln>
            <a:effectLst/>
          </c:spPr>
          <c:marker>
            <c:symbol val="none"/>
          </c:marker>
          <c:cat>
            <c:numRef>
              <c:f>Sheet1!$A$2:$A$376</c:f>
              <c:numCache>
                <c:formatCode>yyyy\-mm\-dd</c:formatCode>
                <c:ptCount val="375"/>
                <c:pt idx="0">
                  <c:v>45716.0</c:v>
                </c:pt>
                <c:pt idx="1">
                  <c:v>45721.0</c:v>
                </c:pt>
                <c:pt idx="2">
                  <c:v>45722.0</c:v>
                </c:pt>
                <c:pt idx="3">
                  <c:v>45723.0</c:v>
                </c:pt>
                <c:pt idx="4">
                  <c:v>45726.0</c:v>
                </c:pt>
                <c:pt idx="5">
                  <c:v>45727.0</c:v>
                </c:pt>
                <c:pt idx="6">
                  <c:v>45728.0</c:v>
                </c:pt>
                <c:pt idx="7">
                  <c:v>45729.0</c:v>
                </c:pt>
                <c:pt idx="8">
                  <c:v>45730.0</c:v>
                </c:pt>
                <c:pt idx="9">
                  <c:v>45733.0</c:v>
                </c:pt>
                <c:pt idx="10">
                  <c:v>45734.0</c:v>
                </c:pt>
                <c:pt idx="11">
                  <c:v>45735.0</c:v>
                </c:pt>
                <c:pt idx="12">
                  <c:v>45736.0</c:v>
                </c:pt>
                <c:pt idx="13">
                  <c:v>45737.0</c:v>
                </c:pt>
                <c:pt idx="14">
                  <c:v>45740.0</c:v>
                </c:pt>
                <c:pt idx="15">
                  <c:v>45741.0</c:v>
                </c:pt>
                <c:pt idx="16">
                  <c:v>45742.0</c:v>
                </c:pt>
                <c:pt idx="17">
                  <c:v>45743.0</c:v>
                </c:pt>
                <c:pt idx="18">
                  <c:v>45744.0</c:v>
                </c:pt>
                <c:pt idx="19">
                  <c:v>45747.0</c:v>
                </c:pt>
                <c:pt idx="20">
                  <c:v>45748.0</c:v>
                </c:pt>
                <c:pt idx="21">
                  <c:v>45749.0</c:v>
                </c:pt>
                <c:pt idx="22">
                  <c:v>45750.0</c:v>
                </c:pt>
                <c:pt idx="23">
                  <c:v>45751.0</c:v>
                </c:pt>
                <c:pt idx="24">
                  <c:v>45754.0</c:v>
                </c:pt>
                <c:pt idx="25">
                  <c:v>45755.0</c:v>
                </c:pt>
                <c:pt idx="26">
                  <c:v>45756.0</c:v>
                </c:pt>
                <c:pt idx="27">
                  <c:v>45757.0</c:v>
                </c:pt>
                <c:pt idx="28">
                  <c:v>45758.0</c:v>
                </c:pt>
                <c:pt idx="29">
                  <c:v>45761.0</c:v>
                </c:pt>
                <c:pt idx="30">
                  <c:v>45762.0</c:v>
                </c:pt>
                <c:pt idx="31">
                  <c:v>45763.0</c:v>
                </c:pt>
                <c:pt idx="32">
                  <c:v>45764.0</c:v>
                </c:pt>
                <c:pt idx="33">
                  <c:v>45769.0</c:v>
                </c:pt>
                <c:pt idx="34">
                  <c:v>45770.0</c:v>
                </c:pt>
                <c:pt idx="35">
                  <c:v>45771.0</c:v>
                </c:pt>
                <c:pt idx="36">
                  <c:v>45772.0</c:v>
                </c:pt>
                <c:pt idx="37">
                  <c:v>45775.0</c:v>
                </c:pt>
                <c:pt idx="38">
                  <c:v>45776.0</c:v>
                </c:pt>
                <c:pt idx="39">
                  <c:v>45777.0</c:v>
                </c:pt>
                <c:pt idx="40">
                  <c:v>45779.0</c:v>
                </c:pt>
                <c:pt idx="41">
                  <c:v>45782.0</c:v>
                </c:pt>
                <c:pt idx="42">
                  <c:v>45783.0</c:v>
                </c:pt>
                <c:pt idx="43">
                  <c:v>45784.0</c:v>
                </c:pt>
                <c:pt idx="44">
                  <c:v>45785.0</c:v>
                </c:pt>
                <c:pt idx="45">
                  <c:v>45786.0</c:v>
                </c:pt>
                <c:pt idx="46">
                  <c:v>45789.0</c:v>
                </c:pt>
                <c:pt idx="47">
                  <c:v>45790.0</c:v>
                </c:pt>
                <c:pt idx="48">
                  <c:v>45791.0</c:v>
                </c:pt>
                <c:pt idx="49">
                  <c:v>45792.0</c:v>
                </c:pt>
                <c:pt idx="50">
                  <c:v>45793.0</c:v>
                </c:pt>
                <c:pt idx="51">
                  <c:v>45796.0</c:v>
                </c:pt>
                <c:pt idx="52">
                  <c:v>45797.0</c:v>
                </c:pt>
                <c:pt idx="53">
                  <c:v>45798.0</c:v>
                </c:pt>
                <c:pt idx="54">
                  <c:v>45799.0</c:v>
                </c:pt>
                <c:pt idx="55">
                  <c:v>45800.0</c:v>
                </c:pt>
                <c:pt idx="56">
                  <c:v>45803.0</c:v>
                </c:pt>
                <c:pt idx="57">
                  <c:v>45804.0</c:v>
                </c:pt>
                <c:pt idx="58">
                  <c:v>45805.0</c:v>
                </c:pt>
                <c:pt idx="59">
                  <c:v>45806.0</c:v>
                </c:pt>
                <c:pt idx="60">
                  <c:v>45807.0</c:v>
                </c:pt>
                <c:pt idx="61">
                  <c:v>45810.0</c:v>
                </c:pt>
                <c:pt idx="62">
                  <c:v>45811.0</c:v>
                </c:pt>
                <c:pt idx="63">
                  <c:v>45812.0</c:v>
                </c:pt>
                <c:pt idx="64">
                  <c:v>45813.0</c:v>
                </c:pt>
                <c:pt idx="65">
                  <c:v>45814.0</c:v>
                </c:pt>
                <c:pt idx="66">
                  <c:v>45817.0</c:v>
                </c:pt>
                <c:pt idx="67">
                  <c:v>45818.0</c:v>
                </c:pt>
                <c:pt idx="68">
                  <c:v>45819.0</c:v>
                </c:pt>
                <c:pt idx="69">
                  <c:v>45820.0</c:v>
                </c:pt>
                <c:pt idx="70">
                  <c:v>45821.0</c:v>
                </c:pt>
                <c:pt idx="71">
                  <c:v>45824.0</c:v>
                </c:pt>
                <c:pt idx="72">
                  <c:v>45825.0</c:v>
                </c:pt>
                <c:pt idx="73">
                  <c:v>45826.0</c:v>
                </c:pt>
                <c:pt idx="74">
                  <c:v>45828.0</c:v>
                </c:pt>
                <c:pt idx="75">
                  <c:v>45831.0</c:v>
                </c:pt>
                <c:pt idx="76">
                  <c:v>45832.0</c:v>
                </c:pt>
                <c:pt idx="77">
                  <c:v>45833.0</c:v>
                </c:pt>
                <c:pt idx="78">
                  <c:v>45834.0</c:v>
                </c:pt>
                <c:pt idx="79">
                  <c:v>45835.0</c:v>
                </c:pt>
                <c:pt idx="80">
                  <c:v>45838.0</c:v>
                </c:pt>
                <c:pt idx="81">
                  <c:v>45839.0</c:v>
                </c:pt>
                <c:pt idx="82">
                  <c:v>45840.0</c:v>
                </c:pt>
                <c:pt idx="83">
                  <c:v>45841.0</c:v>
                </c:pt>
                <c:pt idx="84">
                  <c:v>45842.0</c:v>
                </c:pt>
                <c:pt idx="85">
                  <c:v>45845.0</c:v>
                </c:pt>
                <c:pt idx="86">
                  <c:v>45846.0</c:v>
                </c:pt>
                <c:pt idx="87">
                  <c:v>45847.0</c:v>
                </c:pt>
                <c:pt idx="88">
                  <c:v>45848.0</c:v>
                </c:pt>
                <c:pt idx="89">
                  <c:v>45849.0</c:v>
                </c:pt>
                <c:pt idx="90">
                  <c:v>45852.0</c:v>
                </c:pt>
                <c:pt idx="91">
                  <c:v>45853.0</c:v>
                </c:pt>
                <c:pt idx="92">
                  <c:v>45854.0</c:v>
                </c:pt>
                <c:pt idx="93">
                  <c:v>45855.0</c:v>
                </c:pt>
                <c:pt idx="94">
                  <c:v>45856.0</c:v>
                </c:pt>
                <c:pt idx="95">
                  <c:v>45859.0</c:v>
                </c:pt>
                <c:pt idx="96">
                  <c:v>45860.0</c:v>
                </c:pt>
                <c:pt idx="97">
                  <c:v>45861.0</c:v>
                </c:pt>
                <c:pt idx="98">
                  <c:v>45862.0</c:v>
                </c:pt>
                <c:pt idx="99">
                  <c:v>45863.0</c:v>
                </c:pt>
                <c:pt idx="100">
                  <c:v>45866.0</c:v>
                </c:pt>
                <c:pt idx="101">
                  <c:v>45867.0</c:v>
                </c:pt>
                <c:pt idx="102">
                  <c:v>45868.0</c:v>
                </c:pt>
                <c:pt idx="103">
                  <c:v>45869.0</c:v>
                </c:pt>
                <c:pt idx="104">
                  <c:v>45870.0</c:v>
                </c:pt>
                <c:pt idx="105">
                  <c:v>45873.0</c:v>
                </c:pt>
                <c:pt idx="106">
                  <c:v>45874.0</c:v>
                </c:pt>
                <c:pt idx="107">
                  <c:v>45875.0</c:v>
                </c:pt>
                <c:pt idx="108">
                  <c:v>45876.0</c:v>
                </c:pt>
                <c:pt idx="109">
                  <c:v>45877.0</c:v>
                </c:pt>
                <c:pt idx="110">
                  <c:v>45880.0</c:v>
                </c:pt>
                <c:pt idx="111">
                  <c:v>45881.0</c:v>
                </c:pt>
                <c:pt idx="112">
                  <c:v>45882.0</c:v>
                </c:pt>
                <c:pt idx="113">
                  <c:v>45883.0</c:v>
                </c:pt>
                <c:pt idx="114">
                  <c:v>45884.0</c:v>
                </c:pt>
                <c:pt idx="115">
                  <c:v>45887.0</c:v>
                </c:pt>
                <c:pt idx="116">
                  <c:v>45888.0</c:v>
                </c:pt>
                <c:pt idx="117">
                  <c:v>45889.0</c:v>
                </c:pt>
                <c:pt idx="118">
                  <c:v>45890.0</c:v>
                </c:pt>
                <c:pt idx="119">
                  <c:v>45891.0</c:v>
                </c:pt>
                <c:pt idx="120">
                  <c:v>45894.0</c:v>
                </c:pt>
                <c:pt idx="121">
                  <c:v>45895.0</c:v>
                </c:pt>
                <c:pt idx="122">
                  <c:v>45896.0</c:v>
                </c:pt>
                <c:pt idx="123">
                  <c:v>45897.0</c:v>
                </c:pt>
                <c:pt idx="124">
                  <c:v>45898.0</c:v>
                </c:pt>
                <c:pt idx="125">
                  <c:v>45901.0</c:v>
                </c:pt>
                <c:pt idx="126">
                  <c:v>45902.0</c:v>
                </c:pt>
                <c:pt idx="127">
                  <c:v>45903.0</c:v>
                </c:pt>
                <c:pt idx="128">
                  <c:v>45904.0</c:v>
                </c:pt>
                <c:pt idx="129">
                  <c:v>45905.0</c:v>
                </c:pt>
                <c:pt idx="130">
                  <c:v>45908.0</c:v>
                </c:pt>
                <c:pt idx="131">
                  <c:v>45909.0</c:v>
                </c:pt>
                <c:pt idx="132">
                  <c:v>45910.0</c:v>
                </c:pt>
                <c:pt idx="133">
                  <c:v>45911.0</c:v>
                </c:pt>
                <c:pt idx="134">
                  <c:v>45912.0</c:v>
                </c:pt>
                <c:pt idx="135">
                  <c:v>45915.0</c:v>
                </c:pt>
                <c:pt idx="136">
                  <c:v>45916.0</c:v>
                </c:pt>
                <c:pt idx="137">
                  <c:v>45917.0</c:v>
                </c:pt>
                <c:pt idx="138">
                  <c:v>45918.0</c:v>
                </c:pt>
                <c:pt idx="139">
                  <c:v>45919.0</c:v>
                </c:pt>
                <c:pt idx="140">
                  <c:v>45922.0</c:v>
                </c:pt>
                <c:pt idx="141">
                  <c:v>45923.0</c:v>
                </c:pt>
                <c:pt idx="142">
                  <c:v>45924.0</c:v>
                </c:pt>
                <c:pt idx="143">
                  <c:v>45925.0</c:v>
                </c:pt>
                <c:pt idx="144">
                  <c:v>45926.0</c:v>
                </c:pt>
                <c:pt idx="145">
                  <c:v>45929.0</c:v>
                </c:pt>
                <c:pt idx="146">
                  <c:v>45930.0</c:v>
                </c:pt>
                <c:pt idx="147">
                  <c:v>45931.0</c:v>
                </c:pt>
                <c:pt idx="148">
                  <c:v>45932.0</c:v>
                </c:pt>
                <c:pt idx="149">
                  <c:v>45933.0</c:v>
                </c:pt>
                <c:pt idx="150">
                  <c:v>45936.0</c:v>
                </c:pt>
                <c:pt idx="151">
                  <c:v>45937.0</c:v>
                </c:pt>
                <c:pt idx="152">
                  <c:v>45938.0</c:v>
                </c:pt>
                <c:pt idx="153">
                  <c:v>45939.0</c:v>
                </c:pt>
                <c:pt idx="154">
                  <c:v>45940.0</c:v>
                </c:pt>
                <c:pt idx="155">
                  <c:v>45943.0</c:v>
                </c:pt>
                <c:pt idx="156">
                  <c:v>45944.0</c:v>
                </c:pt>
                <c:pt idx="157">
                  <c:v>45945.0</c:v>
                </c:pt>
                <c:pt idx="158">
                  <c:v>45946.0</c:v>
                </c:pt>
                <c:pt idx="159">
                  <c:v>45947.0</c:v>
                </c:pt>
                <c:pt idx="160">
                  <c:v>45950.0</c:v>
                </c:pt>
                <c:pt idx="161">
                  <c:v>45951.0</c:v>
                </c:pt>
                <c:pt idx="162">
                  <c:v>45952.0</c:v>
                </c:pt>
                <c:pt idx="163">
                  <c:v>45953.0</c:v>
                </c:pt>
                <c:pt idx="164">
                  <c:v>45954.0</c:v>
                </c:pt>
                <c:pt idx="165">
                  <c:v>45957.0</c:v>
                </c:pt>
                <c:pt idx="166">
                  <c:v>45958.0</c:v>
                </c:pt>
                <c:pt idx="167">
                  <c:v>45959.0</c:v>
                </c:pt>
                <c:pt idx="168">
                  <c:v>45960.0</c:v>
                </c:pt>
                <c:pt idx="169">
                  <c:v>45961.0</c:v>
                </c:pt>
                <c:pt idx="170">
                  <c:v>45964.0</c:v>
                </c:pt>
                <c:pt idx="171">
                  <c:v>45965.0</c:v>
                </c:pt>
                <c:pt idx="172">
                  <c:v>45966.0</c:v>
                </c:pt>
                <c:pt idx="173">
                  <c:v>45967.0</c:v>
                </c:pt>
                <c:pt idx="174">
                  <c:v>45968.0</c:v>
                </c:pt>
                <c:pt idx="175">
                  <c:v>45971.0</c:v>
                </c:pt>
                <c:pt idx="176">
                  <c:v>45972.0</c:v>
                </c:pt>
                <c:pt idx="177">
                  <c:v>45973.0</c:v>
                </c:pt>
                <c:pt idx="178">
                  <c:v>45974.0</c:v>
                </c:pt>
                <c:pt idx="179">
                  <c:v>45975.0</c:v>
                </c:pt>
                <c:pt idx="180">
                  <c:v>45978.0</c:v>
                </c:pt>
                <c:pt idx="181">
                  <c:v>45979.0</c:v>
                </c:pt>
                <c:pt idx="182">
                  <c:v>45980.0</c:v>
                </c:pt>
                <c:pt idx="183">
                  <c:v>45982.0</c:v>
                </c:pt>
                <c:pt idx="184">
                  <c:v>45985.0</c:v>
                </c:pt>
                <c:pt idx="185">
                  <c:v>45986.0</c:v>
                </c:pt>
                <c:pt idx="186">
                  <c:v>45987.0</c:v>
                </c:pt>
                <c:pt idx="187">
                  <c:v>45988.0</c:v>
                </c:pt>
                <c:pt idx="188">
                  <c:v>45989.0</c:v>
                </c:pt>
                <c:pt idx="189">
                  <c:v>45992.0</c:v>
                </c:pt>
                <c:pt idx="190">
                  <c:v>45993.0</c:v>
                </c:pt>
                <c:pt idx="191">
                  <c:v>45994.0</c:v>
                </c:pt>
                <c:pt idx="192">
                  <c:v>45995.0</c:v>
                </c:pt>
                <c:pt idx="193">
                  <c:v>45996.0</c:v>
                </c:pt>
                <c:pt idx="194">
                  <c:v>45999.0</c:v>
                </c:pt>
                <c:pt idx="195">
                  <c:v>46000.0</c:v>
                </c:pt>
                <c:pt idx="196">
                  <c:v>46001.0</c:v>
                </c:pt>
                <c:pt idx="197">
                  <c:v>46002.0</c:v>
                </c:pt>
                <c:pt idx="198">
                  <c:v>46003.0</c:v>
                </c:pt>
                <c:pt idx="199">
                  <c:v>46006.0</c:v>
                </c:pt>
                <c:pt idx="200">
                  <c:v>46007.0</c:v>
                </c:pt>
                <c:pt idx="201">
                  <c:v>46008.0</c:v>
                </c:pt>
                <c:pt idx="202">
                  <c:v>46009.0</c:v>
                </c:pt>
                <c:pt idx="203">
                  <c:v>46010.0</c:v>
                </c:pt>
                <c:pt idx="204">
                  <c:v>46013.0</c:v>
                </c:pt>
                <c:pt idx="205">
                  <c:v>46014.0</c:v>
                </c:pt>
                <c:pt idx="206">
                  <c:v>46017.0</c:v>
                </c:pt>
                <c:pt idx="207">
                  <c:v>46020.0</c:v>
                </c:pt>
                <c:pt idx="208">
                  <c:v>46021.0</c:v>
                </c:pt>
                <c:pt idx="209">
                  <c:v>46024.0</c:v>
                </c:pt>
                <c:pt idx="210">
                  <c:v>46027.0</c:v>
                </c:pt>
                <c:pt idx="211">
                  <c:v>46028.0</c:v>
                </c:pt>
                <c:pt idx="212">
                  <c:v>46029.0</c:v>
                </c:pt>
                <c:pt idx="213">
                  <c:v>46030.0</c:v>
                </c:pt>
                <c:pt idx="214">
                  <c:v>46031.0</c:v>
                </c:pt>
                <c:pt idx="215">
                  <c:v>46034.0</c:v>
                </c:pt>
                <c:pt idx="216">
                  <c:v>46035.0</c:v>
                </c:pt>
                <c:pt idx="217">
                  <c:v>46036.0</c:v>
                </c:pt>
                <c:pt idx="218">
                  <c:v>46037.0</c:v>
                </c:pt>
                <c:pt idx="219">
                  <c:v>46038.0</c:v>
                </c:pt>
                <c:pt idx="220">
                  <c:v>46041.0</c:v>
                </c:pt>
                <c:pt idx="221">
                  <c:v>46042.0</c:v>
                </c:pt>
                <c:pt idx="222">
                  <c:v>46043.0</c:v>
                </c:pt>
                <c:pt idx="223">
                  <c:v>46044.0</c:v>
                </c:pt>
                <c:pt idx="224">
                  <c:v>46045.0</c:v>
                </c:pt>
                <c:pt idx="225">
                  <c:v>46048.0</c:v>
                </c:pt>
                <c:pt idx="226">
                  <c:v>46049.0</c:v>
                </c:pt>
                <c:pt idx="227">
                  <c:v>46050.0</c:v>
                </c:pt>
                <c:pt idx="228">
                  <c:v>46051.0</c:v>
                </c:pt>
                <c:pt idx="229">
                  <c:v>46052.0</c:v>
                </c:pt>
                <c:pt idx="230">
                  <c:v>46055.0</c:v>
                </c:pt>
                <c:pt idx="231">
                  <c:v>46056.0</c:v>
                </c:pt>
                <c:pt idx="232">
                  <c:v>46057.0</c:v>
                </c:pt>
                <c:pt idx="233">
                  <c:v>46058.0</c:v>
                </c:pt>
                <c:pt idx="234">
                  <c:v>46059.0</c:v>
                </c:pt>
                <c:pt idx="235">
                  <c:v>46062.0</c:v>
                </c:pt>
                <c:pt idx="236">
                  <c:v>46063.0</c:v>
                </c:pt>
                <c:pt idx="237">
                  <c:v>46064.0</c:v>
                </c:pt>
                <c:pt idx="238">
                  <c:v>46065.0</c:v>
                </c:pt>
                <c:pt idx="239">
                  <c:v>46066.0</c:v>
                </c:pt>
                <c:pt idx="240">
                  <c:v>46071.0</c:v>
                </c:pt>
                <c:pt idx="241">
                  <c:v>46072.0</c:v>
                </c:pt>
                <c:pt idx="242">
                  <c:v>46073.0</c:v>
                </c:pt>
                <c:pt idx="243">
                  <c:v>46076.0</c:v>
                </c:pt>
                <c:pt idx="244">
                  <c:v>46077.0</c:v>
                </c:pt>
                <c:pt idx="245">
                  <c:v>46078.0</c:v>
                </c:pt>
                <c:pt idx="246">
                  <c:v>46079.0</c:v>
                </c:pt>
                <c:pt idx="247">
                  <c:v>46080.0</c:v>
                </c:pt>
                <c:pt idx="248">
                  <c:v>46083.0</c:v>
                </c:pt>
                <c:pt idx="249">
                  <c:v>46084.0</c:v>
                </c:pt>
                <c:pt idx="250">
                  <c:v>46085.0</c:v>
                </c:pt>
                <c:pt idx="251">
                  <c:v>46086.0</c:v>
                </c:pt>
                <c:pt idx="252">
                  <c:v>46087.0</c:v>
                </c:pt>
                <c:pt idx="253">
                  <c:v>46090.0</c:v>
                </c:pt>
                <c:pt idx="254">
                  <c:v>46091.0</c:v>
                </c:pt>
                <c:pt idx="255">
                  <c:v>46092.0</c:v>
                </c:pt>
                <c:pt idx="256">
                  <c:v>46093.0</c:v>
                </c:pt>
                <c:pt idx="257">
                  <c:v>46094.0</c:v>
                </c:pt>
                <c:pt idx="258">
                  <c:v>46097.0</c:v>
                </c:pt>
                <c:pt idx="259">
                  <c:v>46098.0</c:v>
                </c:pt>
                <c:pt idx="260">
                  <c:v>46099.0</c:v>
                </c:pt>
                <c:pt idx="261">
                  <c:v>46100.0</c:v>
                </c:pt>
                <c:pt idx="262">
                  <c:v>46101.0</c:v>
                </c:pt>
                <c:pt idx="263">
                  <c:v>46104.0</c:v>
                </c:pt>
                <c:pt idx="264">
                  <c:v>46105.0</c:v>
                </c:pt>
                <c:pt idx="265">
                  <c:v>46106.0</c:v>
                </c:pt>
                <c:pt idx="266">
                  <c:v>46107.0</c:v>
                </c:pt>
                <c:pt idx="267">
                  <c:v>46108.0</c:v>
                </c:pt>
                <c:pt idx="268">
                  <c:v>46111.0</c:v>
                </c:pt>
                <c:pt idx="269">
                  <c:v>46112.0</c:v>
                </c:pt>
                <c:pt idx="270">
                  <c:v>46113.0</c:v>
                </c:pt>
                <c:pt idx="271">
                  <c:v>46114.0</c:v>
                </c:pt>
                <c:pt idx="272">
                  <c:v>46118.0</c:v>
                </c:pt>
                <c:pt idx="273">
                  <c:v>46119.0</c:v>
                </c:pt>
                <c:pt idx="274">
                  <c:v>46120.0</c:v>
                </c:pt>
                <c:pt idx="275">
                  <c:v>46121.0</c:v>
                </c:pt>
                <c:pt idx="276">
                  <c:v>46122.0</c:v>
                </c:pt>
                <c:pt idx="277">
                  <c:v>46125.0</c:v>
                </c:pt>
                <c:pt idx="278">
                  <c:v>46126.0</c:v>
                </c:pt>
                <c:pt idx="279">
                  <c:v>46127.0</c:v>
                </c:pt>
                <c:pt idx="280">
                  <c:v>46128.0</c:v>
                </c:pt>
                <c:pt idx="281">
                  <c:v>46129.0</c:v>
                </c:pt>
                <c:pt idx="282">
                  <c:v>46132.0</c:v>
                </c:pt>
                <c:pt idx="283">
                  <c:v>46134.0</c:v>
                </c:pt>
                <c:pt idx="284">
                  <c:v>46135.0</c:v>
                </c:pt>
                <c:pt idx="285">
                  <c:v>46136.0</c:v>
                </c:pt>
                <c:pt idx="286">
                  <c:v>46139.0</c:v>
                </c:pt>
                <c:pt idx="287">
                  <c:v>46140.0</c:v>
                </c:pt>
                <c:pt idx="288">
                  <c:v>46141.0</c:v>
                </c:pt>
                <c:pt idx="289">
                  <c:v>46142.0</c:v>
                </c:pt>
                <c:pt idx="290">
                  <c:v>46146.0</c:v>
                </c:pt>
                <c:pt idx="291">
                  <c:v>46147.0</c:v>
                </c:pt>
                <c:pt idx="292">
                  <c:v>46148.0</c:v>
                </c:pt>
                <c:pt idx="293">
                  <c:v>46149.0</c:v>
                </c:pt>
                <c:pt idx="294">
                  <c:v>46150.0</c:v>
                </c:pt>
                <c:pt idx="295">
                  <c:v>46153.0</c:v>
                </c:pt>
                <c:pt idx="296">
                  <c:v>46154.0</c:v>
                </c:pt>
                <c:pt idx="297">
                  <c:v>46155.0</c:v>
                </c:pt>
                <c:pt idx="298">
                  <c:v>46156.0</c:v>
                </c:pt>
                <c:pt idx="299">
                  <c:v>46157.0</c:v>
                </c:pt>
                <c:pt idx="300">
                  <c:v>46160.0</c:v>
                </c:pt>
                <c:pt idx="301">
                  <c:v>46161.0</c:v>
                </c:pt>
                <c:pt idx="302">
                  <c:v>46162.0</c:v>
                </c:pt>
                <c:pt idx="303">
                  <c:v>46163.0</c:v>
                </c:pt>
                <c:pt idx="304">
                  <c:v>46164.0</c:v>
                </c:pt>
                <c:pt idx="305">
                  <c:v>46167.0</c:v>
                </c:pt>
                <c:pt idx="306">
                  <c:v>46168.0</c:v>
                </c:pt>
                <c:pt idx="307">
                  <c:v>46169.0</c:v>
                </c:pt>
                <c:pt idx="308">
                  <c:v>46170.0</c:v>
                </c:pt>
                <c:pt idx="309">
                  <c:v>46171.0</c:v>
                </c:pt>
                <c:pt idx="310">
                  <c:v>46174.0</c:v>
                </c:pt>
                <c:pt idx="311">
                  <c:v>46175.0</c:v>
                </c:pt>
                <c:pt idx="312">
                  <c:v>46176.0</c:v>
                </c:pt>
                <c:pt idx="313">
                  <c:v>46178.0</c:v>
                </c:pt>
                <c:pt idx="314">
                  <c:v>46181.0</c:v>
                </c:pt>
                <c:pt idx="315">
                  <c:v>46182.0</c:v>
                </c:pt>
                <c:pt idx="316">
                  <c:v>46183.0</c:v>
                </c:pt>
                <c:pt idx="317">
                  <c:v>46184.0</c:v>
                </c:pt>
                <c:pt idx="318">
                  <c:v>46185.0</c:v>
                </c:pt>
                <c:pt idx="319">
                  <c:v>46188.0</c:v>
                </c:pt>
                <c:pt idx="320">
                  <c:v>46189.0</c:v>
                </c:pt>
                <c:pt idx="321">
                  <c:v>46190.0</c:v>
                </c:pt>
                <c:pt idx="322">
                  <c:v>46191.0</c:v>
                </c:pt>
                <c:pt idx="323">
                  <c:v>46192.0</c:v>
                </c:pt>
                <c:pt idx="324">
                  <c:v>46195.0</c:v>
                </c:pt>
                <c:pt idx="325">
                  <c:v>46196.0</c:v>
                </c:pt>
                <c:pt idx="326">
                  <c:v>46197.0</c:v>
                </c:pt>
                <c:pt idx="327">
                  <c:v>46198.0</c:v>
                </c:pt>
                <c:pt idx="328">
                  <c:v>46199.0</c:v>
                </c:pt>
                <c:pt idx="329">
                  <c:v>46202.0</c:v>
                </c:pt>
                <c:pt idx="330">
                  <c:v>46203.0</c:v>
                </c:pt>
                <c:pt idx="331">
                  <c:v>46204.0</c:v>
                </c:pt>
                <c:pt idx="332">
                  <c:v>46205.0</c:v>
                </c:pt>
                <c:pt idx="333">
                  <c:v>46206.0</c:v>
                </c:pt>
                <c:pt idx="334">
                  <c:v>46209.0</c:v>
                </c:pt>
                <c:pt idx="335">
                  <c:v>46210.0</c:v>
                </c:pt>
                <c:pt idx="336">
                  <c:v>46211.0</c:v>
                </c:pt>
                <c:pt idx="337">
                  <c:v>46212.0</c:v>
                </c:pt>
                <c:pt idx="338">
                  <c:v>46213.0</c:v>
                </c:pt>
                <c:pt idx="339">
                  <c:v>46216.0</c:v>
                </c:pt>
                <c:pt idx="340">
                  <c:v>46217.0</c:v>
                </c:pt>
                <c:pt idx="341">
                  <c:v>46218.0</c:v>
                </c:pt>
                <c:pt idx="342">
                  <c:v>46219.0</c:v>
                </c:pt>
                <c:pt idx="343">
                  <c:v>46220.0</c:v>
                </c:pt>
                <c:pt idx="344">
                  <c:v>46223.0</c:v>
                </c:pt>
                <c:pt idx="345">
                  <c:v>46224.0</c:v>
                </c:pt>
                <c:pt idx="346">
                  <c:v>46225.0</c:v>
                </c:pt>
                <c:pt idx="347">
                  <c:v>46226.0</c:v>
                </c:pt>
                <c:pt idx="348">
                  <c:v>46227.0</c:v>
                </c:pt>
                <c:pt idx="349">
                  <c:v>46230.0</c:v>
                </c:pt>
                <c:pt idx="350">
                  <c:v>46231.0</c:v>
                </c:pt>
                <c:pt idx="351">
                  <c:v>46232.0</c:v>
                </c:pt>
                <c:pt idx="352">
                  <c:v>46233.0</c:v>
                </c:pt>
                <c:pt idx="353">
                  <c:v>46234.0</c:v>
                </c:pt>
                <c:pt idx="354">
                  <c:v>46237.0</c:v>
                </c:pt>
                <c:pt idx="355">
                  <c:v>46238.0</c:v>
                </c:pt>
                <c:pt idx="356">
                  <c:v>46239.0</c:v>
                </c:pt>
                <c:pt idx="357">
                  <c:v>46240.0</c:v>
                </c:pt>
                <c:pt idx="358">
                  <c:v>46241.0</c:v>
                </c:pt>
                <c:pt idx="359">
                  <c:v>46244.0</c:v>
                </c:pt>
                <c:pt idx="360">
                  <c:v>46245.0</c:v>
                </c:pt>
                <c:pt idx="361">
                  <c:v>46246.0</c:v>
                </c:pt>
                <c:pt idx="362">
                  <c:v>46247.0</c:v>
                </c:pt>
                <c:pt idx="363">
                  <c:v>46248.0</c:v>
                </c:pt>
                <c:pt idx="364">
                  <c:v>46251.0</c:v>
                </c:pt>
                <c:pt idx="365">
                  <c:v>46252.0</c:v>
                </c:pt>
                <c:pt idx="366">
                  <c:v>46253.0</c:v>
                </c:pt>
                <c:pt idx="367">
                  <c:v>46254.0</c:v>
                </c:pt>
                <c:pt idx="368">
                  <c:v>46255.0</c:v>
                </c:pt>
                <c:pt idx="369">
                  <c:v>46258.0</c:v>
                </c:pt>
                <c:pt idx="370">
                  <c:v>46259.0</c:v>
                </c:pt>
                <c:pt idx="371">
                  <c:v>46260.0</c:v>
                </c:pt>
                <c:pt idx="372">
                  <c:v>46261.0</c:v>
                </c:pt>
                <c:pt idx="373">
                  <c:v>46262.0</c:v>
                </c:pt>
                <c:pt idx="374">
                  <c:v>46265.0</c:v>
                </c:pt>
              </c:numCache>
            </c:numRef>
          </c:cat>
          <c:val>
            <c:numRef>
              <c:f>Sheet1!$C$2:$C$376</c:f>
              <c:numCache>
                <c:formatCode>General</c:formatCode>
                <c:ptCount val="375"/>
                <c:pt idx="0">
                  <c:v>100.0</c:v>
                </c:pt>
                <c:pt idx="1">
                  <c:v>100.2017604527851</c:v>
                </c:pt>
                <c:pt idx="2">
                  <c:v>100.4547753570487</c:v>
                </c:pt>
                <c:pt idx="3">
                  <c:v>101.8204858032743</c:v>
                </c:pt>
                <c:pt idx="4">
                  <c:v>101.4008980033973</c:v>
                </c:pt>
                <c:pt idx="5">
                  <c:v>100.5767632317145</c:v>
                </c:pt>
                <c:pt idx="6">
                  <c:v>100.8667898109017</c:v>
                </c:pt>
                <c:pt idx="7">
                  <c:v>102.3111083315031</c:v>
                </c:pt>
                <c:pt idx="8">
                  <c:v>105.0146951414705</c:v>
                </c:pt>
                <c:pt idx="9">
                  <c:v>106.5431022330866</c:v>
                </c:pt>
                <c:pt idx="10">
                  <c:v>107.0649057741389</c:v>
                </c:pt>
                <c:pt idx="11">
                  <c:v>107.9067035431615</c:v>
                </c:pt>
                <c:pt idx="12">
                  <c:v>107.4559265870781</c:v>
                </c:pt>
                <c:pt idx="13">
                  <c:v>107.7735022303504</c:v>
                </c:pt>
                <c:pt idx="14">
                  <c:v>106.9400758588683</c:v>
                </c:pt>
                <c:pt idx="15">
                  <c:v>107.5477758019217</c:v>
                </c:pt>
                <c:pt idx="16">
                  <c:v>107.9158078451559</c:v>
                </c:pt>
                <c:pt idx="17">
                  <c:v>108.4281243452211</c:v>
                </c:pt>
                <c:pt idx="18">
                  <c:v>107.4129946728433</c:v>
                </c:pt>
                <c:pt idx="19">
                  <c:v>106.0753300370548</c:v>
                </c:pt>
                <c:pt idx="20">
                  <c:v>106.7982588470322</c:v>
                </c:pt>
                <c:pt idx="21">
                  <c:v>106.8333161100787</c:v>
                </c:pt>
                <c:pt idx="22">
                  <c:v>106.7928516408387</c:v>
                </c:pt>
                <c:pt idx="23">
                  <c:v>103.6294324330905</c:v>
                </c:pt>
                <c:pt idx="24">
                  <c:v>102.2711894689122</c:v>
                </c:pt>
                <c:pt idx="25">
                  <c:v>100.9224824060178</c:v>
                </c:pt>
                <c:pt idx="26">
                  <c:v>104.069118101771</c:v>
                </c:pt>
                <c:pt idx="27">
                  <c:v>102.8955100563042</c:v>
                </c:pt>
                <c:pt idx="28">
                  <c:v>103.9766662765986</c:v>
                </c:pt>
                <c:pt idx="29">
                  <c:v>105.4192746868075</c:v>
                </c:pt>
                <c:pt idx="30">
                  <c:v>105.2494688682139</c:v>
                </c:pt>
                <c:pt idx="31">
                  <c:v>104.493355773239</c:v>
                </c:pt>
                <c:pt idx="32">
                  <c:v>105.5789827107025</c:v>
                </c:pt>
                <c:pt idx="33">
                  <c:v>106.2421390907701</c:v>
                </c:pt>
                <c:pt idx="34">
                  <c:v>107.6686073162269</c:v>
                </c:pt>
                <c:pt idx="35">
                  <c:v>109.5939961770075</c:v>
                </c:pt>
                <c:pt idx="36">
                  <c:v>109.7233538131268</c:v>
                </c:pt>
                <c:pt idx="37">
                  <c:v>109.9486079253519</c:v>
                </c:pt>
                <c:pt idx="38">
                  <c:v>110.0113934069055</c:v>
                </c:pt>
                <c:pt idx="39">
                  <c:v>109.990204324804</c:v>
                </c:pt>
                <c:pt idx="40">
                  <c:v>110.0446916992626</c:v>
                </c:pt>
                <c:pt idx="41">
                  <c:v>108.7070189200914</c:v>
                </c:pt>
                <c:pt idx="42">
                  <c:v>108.7270434984494</c:v>
                </c:pt>
                <c:pt idx="43">
                  <c:v>108.6307072796712</c:v>
                </c:pt>
                <c:pt idx="44">
                  <c:v>110.9388514198273</c:v>
                </c:pt>
                <c:pt idx="45">
                  <c:v>111.1668498520632</c:v>
                </c:pt>
                <c:pt idx="46">
                  <c:v>111.2086254059375</c:v>
                </c:pt>
                <c:pt idx="47">
                  <c:v>113.1629802794141</c:v>
                </c:pt>
                <c:pt idx="48">
                  <c:v>112.7230177357177</c:v>
                </c:pt>
                <c:pt idx="49">
                  <c:v>113.4653196534274</c:v>
                </c:pt>
                <c:pt idx="50">
                  <c:v>113.3456200693344</c:v>
                </c:pt>
                <c:pt idx="51">
                  <c:v>113.7112742447847</c:v>
                </c:pt>
                <c:pt idx="52">
                  <c:v>114.096635406663</c:v>
                </c:pt>
                <c:pt idx="53">
                  <c:v>112.2819965522546</c:v>
                </c:pt>
                <c:pt idx="54">
                  <c:v>111.7863251266764</c:v>
                </c:pt>
                <c:pt idx="55">
                  <c:v>112.2355955569378</c:v>
                </c:pt>
                <c:pt idx="56">
                  <c:v>112.4895469502258</c:v>
                </c:pt>
                <c:pt idx="57">
                  <c:v>113.6337655270898</c:v>
                </c:pt>
                <c:pt idx="58">
                  <c:v>113.1016606067683</c:v>
                </c:pt>
                <c:pt idx="59">
                  <c:v>112.8132952776767</c:v>
                </c:pt>
                <c:pt idx="60">
                  <c:v>111.5860223394164</c:v>
                </c:pt>
                <c:pt idx="61">
                  <c:v>111.3906055818492</c:v>
                </c:pt>
                <c:pt idx="62">
                  <c:v>112.009185084352</c:v>
                </c:pt>
                <c:pt idx="63">
                  <c:v>111.5656313088313</c:v>
                </c:pt>
                <c:pt idx="64">
                  <c:v>110.9424915119485</c:v>
                </c:pt>
                <c:pt idx="65">
                  <c:v>110.8331503108044</c:v>
                </c:pt>
                <c:pt idx="66">
                  <c:v>110.5051999978176</c:v>
                </c:pt>
                <c:pt idx="67">
                  <c:v>111.1051148668936</c:v>
                </c:pt>
                <c:pt idx="68">
                  <c:v>111.6686125279919</c:v>
                </c:pt>
                <c:pt idx="69">
                  <c:v>112.215603552111</c:v>
                </c:pt>
                <c:pt idx="70">
                  <c:v>111.7374974032788</c:v>
                </c:pt>
                <c:pt idx="71">
                  <c:v>113.4014185284272</c:v>
                </c:pt>
                <c:pt idx="72">
                  <c:v>113.0627433802645</c:v>
                </c:pt>
                <c:pt idx="73">
                  <c:v>112.962270323013</c:v>
                </c:pt>
                <c:pt idx="74">
                  <c:v>111.6586694575668</c:v>
                </c:pt>
                <c:pt idx="75">
                  <c:v>111.1982995965198</c:v>
                </c:pt>
                <c:pt idx="76">
                  <c:v>111.69839287897</c:v>
                </c:pt>
                <c:pt idx="77">
                  <c:v>110.5605017105583</c:v>
                </c:pt>
                <c:pt idx="78">
                  <c:v>111.6570896412995</c:v>
                </c:pt>
                <c:pt idx="79">
                  <c:v>111.4550523134984</c:v>
                </c:pt>
                <c:pt idx="80">
                  <c:v>113.0746164324182</c:v>
                </c:pt>
                <c:pt idx="81">
                  <c:v>113.6404431010034</c:v>
                </c:pt>
                <c:pt idx="82">
                  <c:v>113.2344954673524</c:v>
                </c:pt>
                <c:pt idx="83">
                  <c:v>114.7629514192654</c:v>
                </c:pt>
                <c:pt idx="84">
                  <c:v>115.0363247805827</c:v>
                </c:pt>
                <c:pt idx="85">
                  <c:v>113.5918026754107</c:v>
                </c:pt>
                <c:pt idx="86">
                  <c:v>113.4396435673913</c:v>
                </c:pt>
                <c:pt idx="87">
                  <c:v>111.9558703570197</c:v>
                </c:pt>
                <c:pt idx="88">
                  <c:v>111.3552714437868</c:v>
                </c:pt>
                <c:pt idx="89">
                  <c:v>110.9025400758263</c:v>
                </c:pt>
                <c:pt idx="90">
                  <c:v>110.1791470930281</c:v>
                </c:pt>
                <c:pt idx="91">
                  <c:v>110.1393340944139</c:v>
                </c:pt>
                <c:pt idx="92">
                  <c:v>110.3517868088436</c:v>
                </c:pt>
                <c:pt idx="93">
                  <c:v>110.3955574915091</c:v>
                </c:pt>
                <c:pt idx="94">
                  <c:v>108.6177267274538</c:v>
                </c:pt>
                <c:pt idx="95">
                  <c:v>109.2570962862998</c:v>
                </c:pt>
                <c:pt idx="96">
                  <c:v>109.1504179713384</c:v>
                </c:pt>
                <c:pt idx="97">
                  <c:v>110.2355644492154</c:v>
                </c:pt>
                <c:pt idx="98">
                  <c:v>108.9646429790319</c:v>
                </c:pt>
                <c:pt idx="99">
                  <c:v>108.7338513664881</c:v>
                </c:pt>
                <c:pt idx="100">
                  <c:v>107.5979146099535</c:v>
                </c:pt>
                <c:pt idx="101">
                  <c:v>108.0836022481926</c:v>
                </c:pt>
                <c:pt idx="102">
                  <c:v>109.1129746971252</c:v>
                </c:pt>
                <c:pt idx="103">
                  <c:v>108.3648502606982</c:v>
                </c:pt>
                <c:pt idx="104">
                  <c:v>107.848836664832</c:v>
                </c:pt>
                <c:pt idx="105">
                  <c:v>108.2835385832257</c:v>
                </c:pt>
                <c:pt idx="106">
                  <c:v>108.4302009078406</c:v>
                </c:pt>
                <c:pt idx="107">
                  <c:v>109.5591343551487</c:v>
                </c:pt>
                <c:pt idx="108">
                  <c:v>111.1796593932414</c:v>
                </c:pt>
                <c:pt idx="109">
                  <c:v>110.6793625262207</c:v>
                </c:pt>
                <c:pt idx="110">
                  <c:v>110.4431229905694</c:v>
                </c:pt>
                <c:pt idx="111">
                  <c:v>112.308389255979</c:v>
                </c:pt>
                <c:pt idx="112">
                  <c:v>111.3097173602834</c:v>
                </c:pt>
                <c:pt idx="113">
                  <c:v>111.0397316462199</c:v>
                </c:pt>
                <c:pt idx="114">
                  <c:v>111.0275084286048</c:v>
                </c:pt>
                <c:pt idx="115">
                  <c:v>111.8262684194158</c:v>
                </c:pt>
                <c:pt idx="116">
                  <c:v>109.4733356737416</c:v>
                </c:pt>
                <c:pt idx="117">
                  <c:v>109.6640536994207</c:v>
                </c:pt>
                <c:pt idx="118">
                  <c:v>109.5373345193356</c:v>
                </c:pt>
                <c:pt idx="119">
                  <c:v>112.3527462622076</c:v>
                </c:pt>
                <c:pt idx="120">
                  <c:v>112.3991798310558</c:v>
                </c:pt>
                <c:pt idx="121">
                  <c:v>112.1925170618121</c:v>
                </c:pt>
                <c:pt idx="122">
                  <c:v>113.3606201804916</c:v>
                </c:pt>
                <c:pt idx="123">
                  <c:v>114.8617632264213</c:v>
                </c:pt>
                <c:pt idx="124">
                  <c:v>115.1655602659596</c:v>
                </c:pt>
                <c:pt idx="125">
                  <c:v>115.0521636601705</c:v>
                </c:pt>
                <c:pt idx="126">
                  <c:v>114.280293119436</c:v>
                </c:pt>
                <c:pt idx="127">
                  <c:v>113.8963081892545</c:v>
                </c:pt>
                <c:pt idx="128">
                  <c:v>114.8162009995351</c:v>
                </c:pt>
                <c:pt idx="129">
                  <c:v>116.1573265730227</c:v>
                </c:pt>
                <c:pt idx="130">
                  <c:v>115.4663116803227</c:v>
                </c:pt>
                <c:pt idx="131">
                  <c:v>115.3251949994092</c:v>
                </c:pt>
                <c:pt idx="132">
                  <c:v>115.9199958240733</c:v>
                </c:pt>
                <c:pt idx="133">
                  <c:v>116.5732091337159</c:v>
                </c:pt>
                <c:pt idx="134">
                  <c:v>115.857194055754</c:v>
                </c:pt>
                <c:pt idx="135">
                  <c:v>116.8954753654933</c:v>
                </c:pt>
                <c:pt idx="136">
                  <c:v>117.314989874925</c:v>
                </c:pt>
                <c:pt idx="137">
                  <c:v>118.5624665459654</c:v>
                </c:pt>
                <c:pt idx="138">
                  <c:v>118.485804740084</c:v>
                </c:pt>
                <c:pt idx="139">
                  <c:v>118.7835431028031</c:v>
                </c:pt>
                <c:pt idx="140">
                  <c:v>118.1680173688584</c:v>
                </c:pt>
                <c:pt idx="141">
                  <c:v>119.2394341032983</c:v>
                </c:pt>
                <c:pt idx="142">
                  <c:v>119.2938400439287</c:v>
                </c:pt>
                <c:pt idx="143">
                  <c:v>118.328425723676</c:v>
                </c:pt>
                <c:pt idx="144">
                  <c:v>118.4427832486381</c:v>
                </c:pt>
                <c:pt idx="145">
                  <c:v>119.1676583271097</c:v>
                </c:pt>
                <c:pt idx="146">
                  <c:v>119.086403653317</c:v>
                </c:pt>
                <c:pt idx="147">
                  <c:v>118.5003488218032</c:v>
                </c:pt>
                <c:pt idx="148">
                  <c:v>117.2237025534961</c:v>
                </c:pt>
                <c:pt idx="149">
                  <c:v>117.4281096056982</c:v>
                </c:pt>
                <c:pt idx="150">
                  <c:v>116.9455571698455</c:v>
                </c:pt>
                <c:pt idx="151">
                  <c:v>115.1119523768458</c:v>
                </c:pt>
                <c:pt idx="152">
                  <c:v>115.7544245645469</c:v>
                </c:pt>
                <c:pt idx="153">
                  <c:v>115.3984040109743</c:v>
                </c:pt>
                <c:pt idx="154">
                  <c:v>114.561386407668</c:v>
                </c:pt>
                <c:pt idx="155">
                  <c:v>115.4596178196434</c:v>
                </c:pt>
                <c:pt idx="156">
                  <c:v>115.3778826862642</c:v>
                </c:pt>
                <c:pt idx="157">
                  <c:v>116.1276195124899</c:v>
                </c:pt>
                <c:pt idx="158">
                  <c:v>115.7989200082834</c:v>
                </c:pt>
                <c:pt idx="159">
                  <c:v>116.7749940166495</c:v>
                </c:pt>
                <c:pt idx="160">
                  <c:v>117.679471403249</c:v>
                </c:pt>
                <c:pt idx="161">
                  <c:v>117.3340535341101</c:v>
                </c:pt>
                <c:pt idx="162">
                  <c:v>117.9754589386615</c:v>
                </c:pt>
                <c:pt idx="163">
                  <c:v>118.6661725261971</c:v>
                </c:pt>
                <c:pt idx="164">
                  <c:v>119.0336263892509</c:v>
                </c:pt>
                <c:pt idx="165">
                  <c:v>119.6825644229123</c:v>
                </c:pt>
                <c:pt idx="166">
                  <c:v>120.0569971650441</c:v>
                </c:pt>
                <c:pt idx="167">
                  <c:v>121.0374848868994</c:v>
                </c:pt>
                <c:pt idx="168">
                  <c:v>121.1574287724771</c:v>
                </c:pt>
                <c:pt idx="169">
                  <c:v>121.7764968779492</c:v>
                </c:pt>
                <c:pt idx="170">
                  <c:v>122.5206473435593</c:v>
                </c:pt>
                <c:pt idx="171">
                  <c:v>122.7241993405652</c:v>
                </c:pt>
                <c:pt idx="172">
                  <c:v>124.8335309325175</c:v>
                </c:pt>
                <c:pt idx="173">
                  <c:v>124.8695165412056</c:v>
                </c:pt>
                <c:pt idx="174">
                  <c:v>125.4598303619351</c:v>
                </c:pt>
                <c:pt idx="175">
                  <c:v>126.4319711163983</c:v>
                </c:pt>
                <c:pt idx="176">
                  <c:v>128.4607239353321</c:v>
                </c:pt>
                <c:pt idx="177">
                  <c:v>128.3665049960875</c:v>
                </c:pt>
                <c:pt idx="178">
                  <c:v>127.9833832644851</c:v>
                </c:pt>
                <c:pt idx="179">
                  <c:v>128.452653842956</c:v>
                </c:pt>
                <c:pt idx="180">
                  <c:v>127.8453529256609</c:v>
                </c:pt>
                <c:pt idx="181">
                  <c:v>127.4619624624254</c:v>
                </c:pt>
                <c:pt idx="182">
                  <c:v>126.5324197435014</c:v>
                </c:pt>
                <c:pt idx="183">
                  <c:v>126.0352173619528</c:v>
                </c:pt>
                <c:pt idx="184">
                  <c:v>126.4484614666118</c:v>
                </c:pt>
                <c:pt idx="185">
                  <c:v>126.9636281506646</c:v>
                </c:pt>
                <c:pt idx="186">
                  <c:v>129.1173574657597</c:v>
                </c:pt>
                <c:pt idx="187">
                  <c:v>128.95841491985</c:v>
                </c:pt>
                <c:pt idx="188">
                  <c:v>129.5385250819041</c:v>
                </c:pt>
                <c:pt idx="189">
                  <c:v>129.1630174132398</c:v>
                </c:pt>
                <c:pt idx="190">
                  <c:v>131.183586132438</c:v>
                </c:pt>
                <c:pt idx="191">
                  <c:v>131.7234354098227</c:v>
                </c:pt>
                <c:pt idx="192">
                  <c:v>133.922498937085</c:v>
                </c:pt>
                <c:pt idx="193">
                  <c:v>128.1518942852101</c:v>
                </c:pt>
                <c:pt idx="194">
                  <c:v>128.8180800036873</c:v>
                </c:pt>
                <c:pt idx="195">
                  <c:v>128.6500820160801</c:v>
                </c:pt>
                <c:pt idx="196">
                  <c:v>129.5408378026254</c:v>
                </c:pt>
                <c:pt idx="197">
                  <c:v>129.633778230767</c:v>
                </c:pt>
                <c:pt idx="198">
                  <c:v>130.9182095730514</c:v>
                </c:pt>
                <c:pt idx="199">
                  <c:v>132.3151010321005</c:v>
                </c:pt>
                <c:pt idx="200">
                  <c:v>129.1360383859522</c:v>
                </c:pt>
                <c:pt idx="201">
                  <c:v>128.1176106435316</c:v>
                </c:pt>
                <c:pt idx="202">
                  <c:v>128.6030214067547</c:v>
                </c:pt>
                <c:pt idx="203">
                  <c:v>129.0506468736861</c:v>
                </c:pt>
                <c:pt idx="204">
                  <c:v>128.7807995971306</c:v>
                </c:pt>
                <c:pt idx="205">
                  <c:v>130.665324962913</c:v>
                </c:pt>
                <c:pt idx="206">
                  <c:v>131.0242934210669</c:v>
                </c:pt>
                <c:pt idx="207">
                  <c:v>130.6933952034987</c:v>
                </c:pt>
                <c:pt idx="208">
                  <c:v>131.2105570163427</c:v>
                </c:pt>
                <c:pt idx="209">
                  <c:v>130.7328010329718</c:v>
                </c:pt>
                <c:pt idx="210">
                  <c:v>131.8167422901912</c:v>
                </c:pt>
                <c:pt idx="211">
                  <c:v>133.2777628889595</c:v>
                </c:pt>
                <c:pt idx="212">
                  <c:v>131.9026386921923</c:v>
                </c:pt>
                <c:pt idx="213">
                  <c:v>132.6854132225247</c:v>
                </c:pt>
                <c:pt idx="214">
                  <c:v>133.0386975994692</c:v>
                </c:pt>
                <c:pt idx="215">
                  <c:v>132.8595757509278</c:v>
                </c:pt>
                <c:pt idx="216">
                  <c:v>131.9008552913543</c:v>
                </c:pt>
                <c:pt idx="217">
                  <c:v>134.4846936569319</c:v>
                </c:pt>
                <c:pt idx="218">
                  <c:v>134.8286212870144</c:v>
                </c:pt>
                <c:pt idx="219">
                  <c:v>134.2029326113085</c:v>
                </c:pt>
                <c:pt idx="220">
                  <c:v>134.2430713452355</c:v>
                </c:pt>
                <c:pt idx="221">
                  <c:v>135.4056451069792</c:v>
                </c:pt>
                <c:pt idx="222">
                  <c:v>139.9168918922771</c:v>
                </c:pt>
                <c:pt idx="223">
                  <c:v>142.9891296425731</c:v>
                </c:pt>
                <c:pt idx="224">
                  <c:v>145.6513562111902</c:v>
                </c:pt>
                <c:pt idx="225">
                  <c:v>145.5390915356132</c:v>
                </c:pt>
                <c:pt idx="226">
                  <c:v>148.1437118141511</c:v>
                </c:pt>
                <c:pt idx="227">
                  <c:v>150.4009923852041</c:v>
                </c:pt>
                <c:pt idx="228">
                  <c:v>149.1328233784143</c:v>
                </c:pt>
                <c:pt idx="229">
                  <c:v>147.6915667697538</c:v>
                </c:pt>
                <c:pt idx="230">
                  <c:v>148.8556633440851</c:v>
                </c:pt>
                <c:pt idx="231">
                  <c:v>151.2017963651033</c:v>
                </c:pt>
                <c:pt idx="232">
                  <c:v>147.971967870446</c:v>
                </c:pt>
                <c:pt idx="233">
                  <c:v>148.3131918974318</c:v>
                </c:pt>
                <c:pt idx="234">
                  <c:v>148.9830095646474</c:v>
                </c:pt>
                <c:pt idx="235">
                  <c:v>151.6632981563626</c:v>
                </c:pt>
                <c:pt idx="236">
                  <c:v>151.409371193223</c:v>
                </c:pt>
                <c:pt idx="237">
                  <c:v>154.4792555058836</c:v>
                </c:pt>
                <c:pt idx="238">
                  <c:v>152.9053839079752</c:v>
                </c:pt>
                <c:pt idx="239">
                  <c:v>151.845017744024</c:v>
                </c:pt>
                <c:pt idx="240">
                  <c:v>151.4802023370043</c:v>
                </c:pt>
                <c:pt idx="241">
                  <c:v>153.5307957086653</c:v>
                </c:pt>
                <c:pt idx="242">
                  <c:v>155.1594722729623</c:v>
                </c:pt>
                <c:pt idx="243">
                  <c:v>153.7906266243504</c:v>
                </c:pt>
                <c:pt idx="244">
                  <c:v>155.9379633839306</c:v>
                </c:pt>
                <c:pt idx="245">
                  <c:v>155.7401280416655</c:v>
                </c:pt>
                <c:pt idx="246">
                  <c:v>155.5426998685414</c:v>
                </c:pt>
                <c:pt idx="247">
                  <c:v>153.7364649852047</c:v>
                </c:pt>
                <c:pt idx="248">
                  <c:v>154.1599534654532</c:v>
                </c:pt>
                <c:pt idx="249">
                  <c:v>149.1093052888259</c:v>
                </c:pt>
                <c:pt idx="250">
                  <c:v>150.9509883175844</c:v>
                </c:pt>
                <c:pt idx="251">
                  <c:v>146.9586134555232</c:v>
                </c:pt>
                <c:pt idx="252">
                  <c:v>146.0636393966763</c:v>
                </c:pt>
                <c:pt idx="253">
                  <c:v>147.3263034766789</c:v>
                </c:pt>
                <c:pt idx="254">
                  <c:v>149.3879148452973</c:v>
                </c:pt>
                <c:pt idx="255">
                  <c:v>149.8132844469776</c:v>
                </c:pt>
                <c:pt idx="256">
                  <c:v>145.9982236024713</c:v>
                </c:pt>
                <c:pt idx="257">
                  <c:v>144.6698912833963</c:v>
                </c:pt>
                <c:pt idx="258">
                  <c:v>146.479456810307</c:v>
                </c:pt>
                <c:pt idx="259">
                  <c:v>146.9145496110761</c:v>
                </c:pt>
                <c:pt idx="260">
                  <c:v>146.2876557147125</c:v>
                </c:pt>
                <c:pt idx="261">
                  <c:v>146.8012670126464</c:v>
                </c:pt>
                <c:pt idx="262">
                  <c:v>143.5022034772408</c:v>
                </c:pt>
                <c:pt idx="263">
                  <c:v>148.1541353441626</c:v>
                </c:pt>
                <c:pt idx="264">
                  <c:v>148.6241795440015</c:v>
                </c:pt>
                <c:pt idx="265">
                  <c:v>150.9980896438239</c:v>
                </c:pt>
                <c:pt idx="266">
                  <c:v>148.8062085802102</c:v>
                </c:pt>
                <c:pt idx="267">
                  <c:v>147.8486200508489</c:v>
                </c:pt>
                <c:pt idx="268">
                  <c:v>148.6283000957092</c:v>
                </c:pt>
                <c:pt idx="269">
                  <c:v>152.6573527539984</c:v>
                </c:pt>
                <c:pt idx="270">
                  <c:v>153.0572498542131</c:v>
                </c:pt>
                <c:pt idx="271">
                  <c:v>153.1379589213568</c:v>
                </c:pt>
                <c:pt idx="272">
                  <c:v>153.2274954154791</c:v>
                </c:pt>
                <c:pt idx="273">
                  <c:v>153.3064373685505</c:v>
                </c:pt>
                <c:pt idx="274">
                  <c:v>156.5167624613505</c:v>
                </c:pt>
                <c:pt idx="275">
                  <c:v>158.9012182419267</c:v>
                </c:pt>
                <c:pt idx="276">
                  <c:v>160.6883813226955</c:v>
                </c:pt>
                <c:pt idx="277">
                  <c:v>161.23955804558491</c:v>
                </c:pt>
                <c:pt idx="278">
                  <c:v>161.7742688484092</c:v>
                </c:pt>
                <c:pt idx="279">
                  <c:v>161.0253056435516</c:v>
                </c:pt>
                <c:pt idx="280">
                  <c:v>160.2769124754915</c:v>
                </c:pt>
                <c:pt idx="281">
                  <c:v>159.3932902922978</c:v>
                </c:pt>
                <c:pt idx="282">
                  <c:v>159.7178448146481</c:v>
                </c:pt>
                <c:pt idx="283">
                  <c:v>157.0768643318122</c:v>
                </c:pt>
                <c:pt idx="284">
                  <c:v>155.8467819264785</c:v>
                </c:pt>
                <c:pt idx="285">
                  <c:v>155.3309719151828</c:v>
                </c:pt>
                <c:pt idx="286">
                  <c:v>154.3812661803927</c:v>
                </c:pt>
                <c:pt idx="287">
                  <c:v>153.5994199957019</c:v>
                </c:pt>
                <c:pt idx="288">
                  <c:v>150.4493396490153</c:v>
                </c:pt>
                <c:pt idx="289">
                  <c:v>152.5399251737126</c:v>
                </c:pt>
                <c:pt idx="290">
                  <c:v>151.1412828873569</c:v>
                </c:pt>
                <c:pt idx="291">
                  <c:v>152.0807849634716</c:v>
                </c:pt>
                <c:pt idx="292">
                  <c:v>152.8438525073761</c:v>
                </c:pt>
                <c:pt idx="293">
                  <c:v>149.2016431066387</c:v>
                </c:pt>
                <c:pt idx="294">
                  <c:v>149.9264286078993</c:v>
                </c:pt>
                <c:pt idx="295">
                  <c:v>148.1353567033762</c:v>
                </c:pt>
                <c:pt idx="296">
                  <c:v>146.8596632108593</c:v>
                </c:pt>
                <c:pt idx="297">
                  <c:v>144.2179172500383</c:v>
                </c:pt>
                <c:pt idx="298">
                  <c:v>145.2501480263412</c:v>
                </c:pt>
                <c:pt idx="299">
                  <c:v>144.3690095749081</c:v>
                </c:pt>
                <c:pt idx="300">
                  <c:v>144.1181852406235</c:v>
                </c:pt>
                <c:pt idx="301">
                  <c:v>141.9219474672003</c:v>
                </c:pt>
                <c:pt idx="302">
                  <c:v>144.4275604973946</c:v>
                </c:pt>
                <c:pt idx="303">
                  <c:v>144.6670818163229</c:v>
                </c:pt>
                <c:pt idx="304">
                  <c:v>143.4942311054585</c:v>
                </c:pt>
                <c:pt idx="305">
                  <c:v>144.8021479638001</c:v>
                </c:pt>
                <c:pt idx="306">
                  <c:v>143.8032073364713</c:v>
                </c:pt>
                <c:pt idx="307">
                  <c:v>143.1153683630718</c:v>
                </c:pt>
                <c:pt idx="308">
                  <c:v>142.5608365664599</c:v>
                </c:pt>
                <c:pt idx="309">
                  <c:v>141.521806065501</c:v>
                </c:pt>
                <c:pt idx="310">
                  <c:v>140.2269837667364</c:v>
                </c:pt>
                <c:pt idx="311">
                  <c:v>141.8558069119242</c:v>
                </c:pt>
                <c:pt idx="312">
                  <c:v>138.7067526314731</c:v>
                </c:pt>
                <c:pt idx="313">
                  <c:v>137.6387398310525</c:v>
                </c:pt>
                <c:pt idx="314">
                  <c:v>137.3533956969877</c:v>
                </c:pt>
                <c:pt idx="315">
                  <c:v>138.2853488572269</c:v>
                </c:pt>
                <c:pt idx="316">
                  <c:v>137.3131185255526</c:v>
                </c:pt>
                <c:pt idx="317">
                  <c:v>139.6567678148104</c:v>
                </c:pt>
                <c:pt idx="318">
                  <c:v>139.3598763639046</c:v>
                </c:pt>
                <c:pt idx="319">
                  <c:v>138.7755642163146</c:v>
                </c:pt>
                <c:pt idx="320">
                  <c:v>138.1512436289227</c:v>
                </c:pt>
                <c:pt idx="321">
                  <c:v>137.178483977365</c:v>
                </c:pt>
                <c:pt idx="322">
                  <c:v>137.0348509911596</c:v>
                </c:pt>
                <c:pt idx="323">
                  <c:v>137.0805027952569</c:v>
                </c:pt>
                <c:pt idx="324">
                  <c:v>138.7391225781885</c:v>
                </c:pt>
                <c:pt idx="325">
                  <c:v>139.4626539984946</c:v>
                </c:pt>
                <c:pt idx="326">
                  <c:v>138.8501005992797</c:v>
                </c:pt>
                <c:pt idx="327">
                  <c:v>140.0582040143783</c:v>
                </c:pt>
                <c:pt idx="328">
                  <c:v>141.1208666122852</c:v>
                </c:pt>
                <c:pt idx="329">
                  <c:v>141.0477471779311</c:v>
                </c:pt>
                <c:pt idx="330">
                  <c:v>140.0858263689088</c:v>
                </c:pt>
                <c:pt idx="331">
                  <c:v>139.8126077318651</c:v>
                </c:pt>
                <c:pt idx="332">
                  <c:v>140.7075736473292</c:v>
                </c:pt>
                <c:pt idx="333">
                  <c:v>141.7520846449269</c:v>
                </c:pt>
                <c:pt idx="334">
                  <c:v>140.4306660578674</c:v>
                </c:pt>
                <c:pt idx="335">
                  <c:v>140.0830250452182</c:v>
                </c:pt>
                <c:pt idx="336">
                  <c:v>138.9696373157163</c:v>
                </c:pt>
                <c:pt idx="337">
                  <c:v>140.6705212554914</c:v>
                </c:pt>
                <c:pt idx="338">
                  <c:v>144.8433941977909</c:v>
                </c:pt>
                <c:pt idx="339">
                  <c:v>143.1110605135592</c:v>
                </c:pt>
                <c:pt idx="340">
                  <c:v>143.8456099308228</c:v>
                </c:pt>
                <c:pt idx="341">
                  <c:v>143.3324139454128</c:v>
                </c:pt>
                <c:pt idx="342">
                  <c:v>141.5525717658005</c:v>
                </c:pt>
                <c:pt idx="343">
                  <c:v>141.4620254922085</c:v>
                </c:pt>
                <c:pt idx="344">
                  <c:v>141.1829273327677</c:v>
                </c:pt>
                <c:pt idx="345">
                  <c:v>141.1457120732735</c:v>
                </c:pt>
                <c:pt idx="346">
                  <c:v>144.5837831534419</c:v>
                </c:pt>
                <c:pt idx="347">
                  <c:v>143.9128091258657</c:v>
                </c:pt>
                <c:pt idx="348">
                  <c:v>141.7290225847765</c:v>
                </c:pt>
                <c:pt idx="349">
                  <c:v>142.7815629578363</c:v>
                </c:pt>
                <c:pt idx="350">
                  <c:v>143.7834352029807</c:v>
                </c:pt>
                <c:pt idx="351">
                  <c:v>141.6014890664092</c:v>
                </c:pt>
                <c:pt idx="352">
                  <c:v>144.267241719788</c:v>
                </c:pt>
                <c:pt idx="353">
                  <c:v>144.9513998841522</c:v>
                </c:pt>
                <c:pt idx="354">
                  <c:v>144.9524096636221</c:v>
                </c:pt>
                <c:pt idx="355">
                  <c:v>144.8666842726603</c:v>
                </c:pt>
                <c:pt idx="356">
                  <c:v>144.7292239706337</c:v>
                </c:pt>
                <c:pt idx="357">
                  <c:v>142.9541212398235</c:v>
                </c:pt>
                <c:pt idx="358">
                  <c:v>140.484282090364</c:v>
                </c:pt>
                <c:pt idx="359">
                  <c:v>140.2127084166503</c:v>
                </c:pt>
                <c:pt idx="360">
                  <c:v>136.7067459538992</c:v>
                </c:pt>
                <c:pt idx="361">
                  <c:v>136.3943902190155</c:v>
                </c:pt>
                <c:pt idx="362">
                  <c:v>136.0767005683837</c:v>
                </c:pt>
                <c:pt idx="363">
                  <c:v>135.9409096598355</c:v>
                </c:pt>
                <c:pt idx="364">
                  <c:v>135.8182458843954</c:v>
                </c:pt>
                <c:pt idx="365">
                  <c:v>135.4528441538125</c:v>
                </c:pt>
                <c:pt idx="366">
                  <c:v>136.6706137643203</c:v>
                </c:pt>
                <c:pt idx="367">
                  <c:v>136.7495068570948</c:v>
                </c:pt>
                <c:pt idx="368">
                  <c:v>139.2776852010874</c:v>
                </c:pt>
                <c:pt idx="369">
                  <c:v>139.9902230545845</c:v>
                </c:pt>
                <c:pt idx="370">
                  <c:v>142.1645714149836</c:v>
                </c:pt>
                <c:pt idx="371">
                  <c:v>142.1722750551327</c:v>
                </c:pt>
                <c:pt idx="372">
                  <c:v>142.6194689227746</c:v>
                </c:pt>
                <c:pt idx="373">
                  <c:v>143.0504248850704</c:v>
                </c:pt>
                <c:pt idx="374">
                  <c:v>144.478904526084</c:v>
                </c:pt>
              </c:numCache>
            </c:numRef>
          </c:val>
          <c:smooth val="0"/>
          <c:extLst>
            <c:ext xmlns:c16="http://schemas.microsoft.com/office/drawing/2014/chart" uri="{C3380CC4-5D6E-409C-BE32-E72D297353CC}">
              <c16:uniqueId val="{00000001-E7A6-40FB-B8E4-CDDE057B7709}"/>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1119"/>
        <c:crosses val="autoZero"/>
        <c:auto val="1"/>
        <c:lblOffset val="100"/>
        <c:baseTimeUnit val="days"/>
        <c:majorUnit val="2"/>
        <c:majorTimeUnit val="months"/>
      </c:dateAx>
      <c:valAx>
        <c:axId val="466101119"/>
        <c:scaling>
          <c:orientation val="minMax"/>
          <c:min val="80"/>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dirty="0">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02/07/2026</a:t>
            </a:fld>
            <a:endParaRPr lang="pt-BR" dirty="0">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dirty="0">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dirty="0">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dirty="0"/>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02/07/2026</a:t>
            </a:fld>
            <a:endParaRPr lang="pt-BR" dirty="0"/>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dirty="0"/>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dirty="0"/>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3</a:t>
            </a:fld>
            <a:endParaRPr lang="pt-BR" dirty="0"/>
          </a:p>
        </p:txBody>
      </p:sp>
    </p:spTree>
    <p:extLst>
      <p:ext uri="{BB962C8B-B14F-4D97-AF65-F5344CB8AC3E}">
        <p14:creationId xmlns:p14="http://schemas.microsoft.com/office/powerpoint/2010/main" val="1092678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C7BF7-DE2C-804B-21A7-A8628FFBC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DB5D5-56BA-C359-6898-3E192177C5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CC23E-1584-8425-3F88-70CF531DD318}"/>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01293CE8-00D1-D3D0-6796-02B7BC78034E}"/>
              </a:ext>
            </a:extLst>
          </p:cNvPr>
          <p:cNvSpPr>
            <a:spLocks noGrp="1"/>
          </p:cNvSpPr>
          <p:nvPr>
            <p:ph type="sldNum" sz="quarter" idx="5"/>
          </p:nvPr>
        </p:nvSpPr>
        <p:spPr/>
        <p:txBody>
          <a:bodyPr/>
          <a:lstStyle/>
          <a:p>
            <a:fld id="{313CA231-F0FC-4F9B-BA71-B3112EA6E8D1}" type="slidenum">
              <a:rPr lang="pt-BR" smtClean="0"/>
              <a:pPr/>
              <a:t>4</a:t>
            </a:fld>
            <a:endParaRPr lang="pt-BR" dirty="0"/>
          </a:p>
        </p:txBody>
      </p:sp>
    </p:spTree>
    <p:extLst>
      <p:ext uri="{BB962C8B-B14F-4D97-AF65-F5344CB8AC3E}">
        <p14:creationId xmlns:p14="http://schemas.microsoft.com/office/powerpoint/2010/main" val="835645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1012252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8" y="1522181"/>
            <a:ext cx="9579788" cy="851248"/>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1012252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1012252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1012252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1012252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1012252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1012252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1012252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1012252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50" name="Espaço Reservado para Conteúdo 14">
            <a:extLst>
              <a:ext uri="{FF2B5EF4-FFF2-40B4-BE49-F238E27FC236}">
                <a16:creationId xmlns:a16="http://schemas.microsoft.com/office/drawing/2014/main" id="{5DD66D9C-1033-48E3-9084-861698E49C88}"/>
              </a:ext>
            </a:extLst>
          </p:cNvPr>
          <p:cNvSpPr>
            <a:spLocks noGrp="1"/>
          </p:cNvSpPr>
          <p:nvPr>
            <p:ph sz="quarter" idx="42"/>
          </p:nvPr>
        </p:nvSpPr>
        <p:spPr>
          <a:xfrm>
            <a:off x="335999" y="2411916"/>
            <a:ext cx="9579786" cy="252881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1" name="Espaço Reservado para Conteúdo 14">
            <a:extLst>
              <a:ext uri="{FF2B5EF4-FFF2-40B4-BE49-F238E27FC236}">
                <a16:creationId xmlns:a16="http://schemas.microsoft.com/office/drawing/2014/main" id="{1AAAB222-9B15-4258-ACBD-73305BB52F7E}"/>
              </a:ext>
            </a:extLst>
          </p:cNvPr>
          <p:cNvSpPr>
            <a:spLocks noGrp="1"/>
          </p:cNvSpPr>
          <p:nvPr>
            <p:ph sz="quarter" idx="43" hasCustomPrompt="1"/>
          </p:nvPr>
        </p:nvSpPr>
        <p:spPr>
          <a:xfrm>
            <a:off x="10122521" y="4234046"/>
            <a:ext cx="1914195" cy="18484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Conteúdo 14">
            <a:extLst>
              <a:ext uri="{FF2B5EF4-FFF2-40B4-BE49-F238E27FC236}">
                <a16:creationId xmlns:a16="http://schemas.microsoft.com/office/drawing/2014/main" id="{BF881F3D-BE20-4A6F-BE22-461C15CBA88A}"/>
              </a:ext>
            </a:extLst>
          </p:cNvPr>
          <p:cNvSpPr>
            <a:spLocks noGrp="1"/>
          </p:cNvSpPr>
          <p:nvPr>
            <p:ph sz="quarter" idx="44" hasCustomPrompt="1"/>
          </p:nvPr>
        </p:nvSpPr>
        <p:spPr>
          <a:xfrm>
            <a:off x="10122521" y="3898244"/>
            <a:ext cx="1914195"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2138727" cy="984885"/>
          </a:xfrm>
          <a:prstGeom prst="rect">
            <a:avLst/>
          </a:prstGeom>
        </p:spPr>
        <p:txBody>
          <a:bodyPr wrap="none" rtlCol="0">
            <a:spAutoFit/>
          </a:bodyPr>
          <a:lstStyle/>
          <a:p>
            <a:r>
              <a:rPr lang="pt-BR" sz="5800" dirty="0">
                <a:solidFill>
                  <a:srgbClr val="242424"/>
                </a:solidFill>
                <a:latin typeface="+mj-lt"/>
                <a:ea typeface="XP Light Lighthouse" pitchFamily="50" charset="0"/>
              </a:rPr>
              <a:t>Índice</a:t>
            </a:r>
          </a:p>
        </p:txBody>
      </p:sp>
      <p:sp>
        <p:nvSpPr>
          <p:cNvPr id="13" name="Freeform: Shape 12">
            <a:extLst>
              <a:ext uri="{FF2B5EF4-FFF2-40B4-BE49-F238E27FC236}">
                <a16:creationId xmlns:a16="http://schemas.microsoft.com/office/drawing/2014/main" id="{844D0124-F03F-434F-9C9B-43216851E7C3}"/>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15" name="Espaço Reservado para Texto 6">
            <a:extLst>
              <a:ext uri="{FF2B5EF4-FFF2-40B4-BE49-F238E27FC236}">
                <a16:creationId xmlns:a16="http://schemas.microsoft.com/office/drawing/2014/main" id="{94944841-FAE5-4D44-AF6D-E519CC043F13}"/>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6" name="Espaço Reservado para Texto 6">
            <a:extLst>
              <a:ext uri="{FF2B5EF4-FFF2-40B4-BE49-F238E27FC236}">
                <a16:creationId xmlns:a16="http://schemas.microsoft.com/office/drawing/2014/main" id="{AAD0C9E5-6039-4713-97C1-16EAFD52DD08}"/>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7" name="Espaço Reservado para Texto 6">
            <a:extLst>
              <a:ext uri="{FF2B5EF4-FFF2-40B4-BE49-F238E27FC236}">
                <a16:creationId xmlns:a16="http://schemas.microsoft.com/office/drawing/2014/main" id="{3D14A41D-89A7-4BCD-8F56-FF9BA67DCD7D}"/>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8" name="Espaço Reservado para Texto 6">
            <a:extLst>
              <a:ext uri="{FF2B5EF4-FFF2-40B4-BE49-F238E27FC236}">
                <a16:creationId xmlns:a16="http://schemas.microsoft.com/office/drawing/2014/main" id="{38A9FFE0-16AC-4B0C-B473-3834B353B4DE}"/>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9" name="Espaço Reservado para Texto 6">
            <a:extLst>
              <a:ext uri="{FF2B5EF4-FFF2-40B4-BE49-F238E27FC236}">
                <a16:creationId xmlns:a16="http://schemas.microsoft.com/office/drawing/2014/main" id="{624FD55C-43EF-4DA5-BA21-2E91B3AEC2A8}"/>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0" name="Espaço Reservado para Texto 6">
            <a:extLst>
              <a:ext uri="{FF2B5EF4-FFF2-40B4-BE49-F238E27FC236}">
                <a16:creationId xmlns:a16="http://schemas.microsoft.com/office/drawing/2014/main" id="{16D9034A-51D4-4121-84CA-92FBFBB745C5}"/>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2" name="Espaço Reservado para Texto 6">
            <a:extLst>
              <a:ext uri="{FF2B5EF4-FFF2-40B4-BE49-F238E27FC236}">
                <a16:creationId xmlns:a16="http://schemas.microsoft.com/office/drawing/2014/main" id="{E7310526-1BB3-43DD-8A2A-879A97DFE31F}"/>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3" name="Espaço Reservado para Texto 6">
            <a:extLst>
              <a:ext uri="{FF2B5EF4-FFF2-40B4-BE49-F238E27FC236}">
                <a16:creationId xmlns:a16="http://schemas.microsoft.com/office/drawing/2014/main" id="{8678D1D3-A61B-44D4-986B-F937FBDE293A}"/>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4" name="Espaço Reservado para Texto 6">
            <a:extLst>
              <a:ext uri="{FF2B5EF4-FFF2-40B4-BE49-F238E27FC236}">
                <a16:creationId xmlns:a16="http://schemas.microsoft.com/office/drawing/2014/main" id="{47ED3601-9B62-4C46-9F5D-835223B43950}"/>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47C46C3F-1640-4BCD-B79B-CE85A97A6629}"/>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694303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233663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997319"/>
            <a:ext cx="3685087" cy="2016449"/>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661518"/>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3997319"/>
            <a:ext cx="3685087" cy="201749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366256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3991783"/>
            <a:ext cx="3685087" cy="2019217"/>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65875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30585406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419097"/>
            <a:ext cx="5620183" cy="259467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040732"/>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426233"/>
            <a:ext cx="5620183" cy="258476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657078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767313"/>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148738859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7675487" cy="4955776"/>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8169814" y="1526295"/>
            <a:ext cx="3685087" cy="21571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8169814" y="1233481"/>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69813" y="4014516"/>
            <a:ext cx="3685087" cy="217265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72586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215411623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351985"/>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349217"/>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007176"/>
            <a:ext cx="562018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5" y="3007176"/>
            <a:ext cx="563024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9264319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11518900" cy="256720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4219758"/>
            <a:ext cx="11518899" cy="198695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888021"/>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02685193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770867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407232"/>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461394" y="4714613"/>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4711845"/>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46139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2703130"/>
            <a:ext cx="11518900" cy="1611200"/>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10677073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360110" y="4609835"/>
            <a:ext cx="5494789" cy="162513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5999" y="813373"/>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324164" y="43204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2056730"/>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ACB8FC63-8E9B-46EC-9C1E-23865728060B}"/>
              </a:ext>
            </a:extLst>
          </p:cNvPr>
          <p:cNvSpPr>
            <a:spLocks noGrp="1"/>
          </p:cNvSpPr>
          <p:nvPr>
            <p:ph sz="quarter" idx="30" hasCustomPrompt="1"/>
          </p:nvPr>
        </p:nvSpPr>
        <p:spPr>
          <a:xfrm>
            <a:off x="6348275" y="4320460"/>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90882685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1729559"/>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287489FE-2426-4E3A-8277-E0317AD4AAED}"/>
              </a:ext>
            </a:extLst>
          </p:cNvPr>
          <p:cNvSpPr>
            <a:spLocks noGrp="1"/>
          </p:cNvSpPr>
          <p:nvPr>
            <p:ph sz="quarter" idx="20"/>
          </p:nvPr>
        </p:nvSpPr>
        <p:spPr>
          <a:xfrm>
            <a:off x="335999" y="1243689"/>
            <a:ext cx="11518900" cy="43126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43953111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579427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814141"/>
            <a:ext cx="11518900" cy="2536334"/>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1251833"/>
            <a:ext cx="11518900" cy="499191"/>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4" name="Espaço Reservado para Conteúdo 14">
            <a:extLst>
              <a:ext uri="{FF2B5EF4-FFF2-40B4-BE49-F238E27FC236}">
                <a16:creationId xmlns:a16="http://schemas.microsoft.com/office/drawing/2014/main" id="{C5F4F10D-AEEB-4BA9-B1DF-A2BD4A0C492A}"/>
              </a:ext>
            </a:extLst>
          </p:cNvPr>
          <p:cNvSpPr>
            <a:spLocks noGrp="1"/>
          </p:cNvSpPr>
          <p:nvPr>
            <p:ph sz="quarter" idx="30"/>
          </p:nvPr>
        </p:nvSpPr>
        <p:spPr>
          <a:xfrm>
            <a:off x="335999" y="4413592"/>
            <a:ext cx="11518900" cy="804361"/>
          </a:xfrm>
          <a:prstGeom prst="rect">
            <a:avLst/>
          </a:prstGeom>
          <a:solidFill>
            <a:schemeClr val="accent3">
              <a:lumMod val="20000"/>
              <a:lumOff val="80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17214038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78CA0DD-0E52-42AB-830E-E80120F9F5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0BEFAF7E-5F4E-42A9-9992-51D70001595D}"/>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39" name="Freeform: Shape 38">
            <a:extLst>
              <a:ext uri="{FF2B5EF4-FFF2-40B4-BE49-F238E27FC236}">
                <a16:creationId xmlns:a16="http://schemas.microsoft.com/office/drawing/2014/main" id="{FE23C6CE-B8D0-426A-AA37-BAC01D3E84D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918350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4" name="Text Placeholder 21">
            <a:extLst>
              <a:ext uri="{FF2B5EF4-FFF2-40B4-BE49-F238E27FC236}">
                <a16:creationId xmlns:a16="http://schemas.microsoft.com/office/drawing/2014/main" id="{7869B08B-9B05-4D38-B4CA-C2F1D7979BA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50" name="Date Placeholder 1">
            <a:extLst>
              <a:ext uri="{FF2B5EF4-FFF2-40B4-BE49-F238E27FC236}">
                <a16:creationId xmlns:a16="http://schemas.microsoft.com/office/drawing/2014/main" id="{BDC93EBC-9BE5-4C8E-9414-F42BAD4A922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43" name="Freeform: Shape 42">
            <a:extLst>
              <a:ext uri="{FF2B5EF4-FFF2-40B4-BE49-F238E27FC236}">
                <a16:creationId xmlns:a16="http://schemas.microsoft.com/office/drawing/2014/main" id="{969C1A72-26FC-45FB-93EF-511CAA77CA27}"/>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79554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5F3E463-B817-4B2E-93BD-2A1152C6F7E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82577943-F62A-4C91-832C-4ED1B4C0498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39" name="Freeform: Shape 38">
            <a:extLst>
              <a:ext uri="{FF2B5EF4-FFF2-40B4-BE49-F238E27FC236}">
                <a16:creationId xmlns:a16="http://schemas.microsoft.com/office/drawing/2014/main" id="{B8D3B3BB-8B99-46A8-BF9C-2025B42E4C8F}"/>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554873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50D9BA1D-B6BB-4DBB-81B7-1B0E548BA3D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D3706B77-8E0E-4CB3-9E64-46F131F4F69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07023540-B693-4180-8404-3191DA6A28A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3124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B4946D23-AB3A-411B-8B2F-43A2479B969C}"/>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4D1961CB-AE6D-47CE-8F6B-C8BA879B211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C5D1D84B-3FC3-499D-9713-4B883236AB6B}"/>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17258192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E546736A-F3E9-4525-A2B9-3429C623DAE3}" type="datetime4">
              <a:rPr lang="pt-BR" smtClean="0"/>
              <a:pPr/>
              <a:t>2 de julho de 2026</a:t>
            </a:fld>
            <a:endParaRPr lang="en-US" dirty="0"/>
          </a:p>
        </p:txBody>
      </p:sp>
    </p:spTree>
    <p:extLst>
      <p:ext uri="{BB962C8B-B14F-4D97-AF65-F5344CB8AC3E}">
        <p14:creationId xmlns:p14="http://schemas.microsoft.com/office/powerpoint/2010/main" val="20996871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7919C1BB-AAC0-4B5F-9616-70B2766A3DB9}" type="datetime4">
              <a:rPr lang="pt-BR" smtClean="0"/>
              <a:pPr/>
              <a:t>2 de julho de 2026</a:t>
            </a:fld>
            <a:endParaRPr lang="en-US" dirty="0"/>
          </a:p>
        </p:txBody>
      </p:sp>
    </p:spTree>
    <p:extLst>
      <p:ext uri="{BB962C8B-B14F-4D97-AF65-F5344CB8AC3E}">
        <p14:creationId xmlns:p14="http://schemas.microsoft.com/office/powerpoint/2010/main" val="256932748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B709002E-9D42-4A32-B9EE-0434FA9D032B}" type="datetime4">
              <a:rPr lang="pt-BR" smtClean="0"/>
              <a:pPr/>
              <a:t>2 de julho de 2026</a:t>
            </a:fld>
            <a:endParaRPr lang="en-US" dirty="0"/>
          </a:p>
        </p:txBody>
      </p:sp>
    </p:spTree>
    <p:extLst>
      <p:ext uri="{BB962C8B-B14F-4D97-AF65-F5344CB8AC3E}">
        <p14:creationId xmlns:p14="http://schemas.microsoft.com/office/powerpoint/2010/main" val="36886873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C5584092-D3E3-4F4F-9A2F-E189F9574485}" type="datetime4">
              <a:rPr lang="pt-BR" smtClean="0"/>
              <a:pPr/>
              <a:t>2 de julho de 2026</a:t>
            </a:fld>
            <a:endParaRPr lang="en-US" dirty="0"/>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July 2,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21">
            <a:extLst>
              <a:ext uri="{FF2B5EF4-FFF2-40B4-BE49-F238E27FC236}">
                <a16:creationId xmlns:a16="http://schemas.microsoft.com/office/drawing/2014/main" id="{352B89BB-543D-44EA-B737-A6CDE774FA54}"/>
              </a:ext>
            </a:extLst>
          </p:cNvPr>
          <p:cNvSpPr>
            <a:spLocks noGrp="1"/>
          </p:cNvSpPr>
          <p:nvPr>
            <p:ph type="body" sz="quarter" idx="18" hasCustomPrompt="1"/>
          </p:nvPr>
        </p:nvSpPr>
        <p:spPr>
          <a:xfrm>
            <a:off x="788194" y="6309245"/>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22834251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876188"/>
            <a:ext cx="11519449" cy="501675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800"/>
              </a:lnSpc>
              <a:buNone/>
            </a:pPr>
            <a:r>
              <a:rPr lang="pt-BR" sz="800" dirty="0">
                <a:solidFill>
                  <a:schemeClr val="accent6"/>
                </a:solidFill>
              </a:rPr>
              <a:t>1) Este relatório de análise foi elaborado pela XP Investimentos CCTVM S.A. (“XP Investimentos ou XP”) de acordo com todas as exigências previstas na Resolução CVM nº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a:t>
            </a:r>
          </a:p>
          <a:p>
            <a:pPr marL="0" lvl="0" indent="0" algn="just">
              <a:lnSpc>
                <a:spcPts val="800"/>
              </a:lnSpc>
              <a:buNone/>
            </a:pPr>
            <a:endParaRPr lang="pt-BR" sz="1000" dirty="0">
              <a:solidFill>
                <a:schemeClr val="accent6"/>
              </a:solidFill>
            </a:endParaRPr>
          </a:p>
          <a:p>
            <a:pPr marL="0" lvl="0" indent="0" algn="just">
              <a:lnSpc>
                <a:spcPts val="800"/>
              </a:lnSpc>
              <a:buNone/>
            </a:pPr>
            <a:r>
              <a:rPr lang="pt-BR" sz="8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3) 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7) Os produtos apresentados neste relatório podem não ser adequados para todos os tipos de cliente. Antes de qualquer decisão, os clientes deverão realizar o processo de </a:t>
            </a:r>
            <a:r>
              <a:rPr lang="pt-BR" sz="800" dirty="0" err="1">
                <a:solidFill>
                  <a:schemeClr val="accent6"/>
                </a:solidFill>
              </a:rPr>
              <a:t>suitability</a:t>
            </a:r>
            <a:r>
              <a:rPr lang="pt-BR" sz="800" dirty="0">
                <a:solidFill>
                  <a:schemeClr val="accent6"/>
                </a:solidFill>
              </a:rPr>
              <a:t> e confirmar se os produtos apresentados são indicados para o seu perfil de investidor. Este material não sugere qualquer alteração de carteira, mas somente orientação sobre produtos adequados a determinado perfil de investidor.</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10) SAC. 0800 772 0202. A Ouvidoria da XP Investimentos tem a missão de servir de canal de contato sempre que os clientes que não se sentirem satisfeitos com as soluções dadas pela empresa aos seus problemas. O contato pode ser realizado por meio do telefone: 0800-722-3730.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11) O custo da operação e a política de cobrança estão definidos nas tabelas de custos operacionais disponibilizadas no site da XP Investimentos: www.xpi.com.br.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12) A XP Investimentos se exime de qualquer responsabilidade por quaisquer prejuízos, diretos ou indiretos, que venham a decorrer da utilização deste relatório ou seu conteúdo.</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13) A Avaliação Técnica e a Avaliação de Fundamentos seguem diferentes metodologias de análise. A Análise Técnica é executada seguindo conceitos como tendência, suporte, resistência, </a:t>
            </a:r>
            <a:r>
              <a:rPr lang="pt-BR" sz="800" dirty="0" err="1">
                <a:solidFill>
                  <a:schemeClr val="accent6"/>
                </a:solidFill>
              </a:rPr>
              <a:t>candles</a:t>
            </a:r>
            <a:r>
              <a:rPr lang="pt-BR" sz="8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800" dirty="0" err="1">
                <a:solidFill>
                  <a:schemeClr val="accent6"/>
                </a:solidFill>
              </a:rPr>
              <a:t>stops</a:t>
            </a:r>
            <a:r>
              <a:rPr lang="pt-BR" sz="800" dirty="0">
                <a:solidFill>
                  <a:schemeClr val="accent6"/>
                </a:solidFill>
              </a:rPr>
              <a:t>” para limitar as possíveis perdas.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14)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800" dirty="0" err="1">
                <a:solidFill>
                  <a:schemeClr val="accent6"/>
                </a:solidFill>
              </a:rPr>
              <a:t>Suitability</a:t>
            </a:r>
            <a:r>
              <a:rPr lang="pt-BR" sz="8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15) ESTA INSTITUIÇÃO É ADERENTE À RESOLUÇÃO CVM Nº 16/2021.</a:t>
            </a:r>
          </a:p>
        </p:txBody>
      </p:sp>
    </p:spTree>
    <p:extLst>
      <p:ext uri="{BB962C8B-B14F-4D97-AF65-F5344CB8AC3E}">
        <p14:creationId xmlns:p14="http://schemas.microsoft.com/office/powerpoint/2010/main" val="368176068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340565"/>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1000"/>
              </a:lnSpc>
              <a:buNone/>
            </a:pPr>
            <a:r>
              <a:rPr lang="pt-BR" sz="700" dirty="0">
                <a:solidFill>
                  <a:schemeClr val="accent6"/>
                </a:solidFill>
              </a:rPr>
              <a:t>1) 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0" lvl="0" indent="0" algn="just">
              <a:lnSpc>
                <a:spcPts val="1000"/>
              </a:lnSpc>
              <a:buNone/>
            </a:pPr>
            <a:r>
              <a:rPr lang="pt-BR" sz="7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1000"/>
              </a:lnSpc>
              <a:buNone/>
            </a:pPr>
            <a:r>
              <a:rPr lang="pt-BR" sz="700" dirty="0">
                <a:solidFill>
                  <a:schemeClr val="accent6"/>
                </a:solidFill>
              </a:rPr>
              <a:t>3) O(</a:t>
            </a:r>
            <a:r>
              <a:rPr lang="pt-BR" sz="700" dirty="0" err="1">
                <a:solidFill>
                  <a:schemeClr val="accent6"/>
                </a:solidFill>
              </a:rPr>
              <a:t>s</a:t>
            </a:r>
            <a:r>
              <a:rPr lang="pt-BR" sz="700" dirty="0">
                <a:solidFill>
                  <a:schemeClr val="accent6"/>
                </a:solidFill>
              </a:rPr>
              <a:t>) signatário(</a:t>
            </a:r>
            <a:r>
              <a:rPr lang="pt-BR" sz="700" dirty="0" err="1">
                <a:solidFill>
                  <a:schemeClr val="accent6"/>
                </a:solidFill>
              </a:rPr>
              <a:t>s</a:t>
            </a:r>
            <a:r>
              <a:rPr lang="pt-BR" sz="700" dirty="0">
                <a:solidFill>
                  <a:schemeClr val="accent6"/>
                </a:solidFill>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dirty="0" err="1">
                <a:solidFill>
                  <a:schemeClr val="accent6"/>
                </a:solidFill>
              </a:rPr>
              <a:t>s</a:t>
            </a:r>
            <a:r>
              <a:rPr lang="pt-BR" sz="700" dirty="0">
                <a:solidFill>
                  <a:schemeClr val="accent6"/>
                </a:solidFill>
              </a:rPr>
              <a:t>) remuneração(es) é(são) indiretamente influenciada por receitas provenientes dos negócios e operações financeiras realizadas pela XP Investimentos. </a:t>
            </a:r>
          </a:p>
          <a:p>
            <a:pPr marL="0" lvl="0" indent="0" algn="just">
              <a:lnSpc>
                <a:spcPts val="1000"/>
              </a:lnSpc>
              <a:buNone/>
            </a:pPr>
            <a:r>
              <a:rPr lang="pt-BR" sz="7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1000"/>
              </a:lnSpc>
              <a:buNone/>
            </a:pPr>
            <a:r>
              <a:rPr lang="pt-BR" sz="7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1000"/>
              </a:lnSpc>
              <a:buNone/>
            </a:pPr>
            <a:r>
              <a:rPr lang="pt-BR" sz="7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1000"/>
              </a:lnSpc>
              <a:buNone/>
            </a:pPr>
            <a:r>
              <a:rPr lang="pt-BR" sz="700" dirty="0">
                <a:solidFill>
                  <a:schemeClr val="accent6"/>
                </a:solidFill>
              </a:rPr>
              <a:t>7)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accent6"/>
                </a:solidFill>
              </a:rPr>
              <a:t>Suitability</a:t>
            </a:r>
            <a:r>
              <a:rPr lang="pt-BR" sz="7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0" lvl="0" indent="0" algn="just">
              <a:lnSpc>
                <a:spcPts val="1000"/>
              </a:lnSpc>
              <a:buNone/>
            </a:pPr>
            <a:r>
              <a:rPr lang="pt-BR" sz="7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1000"/>
              </a:lnSpc>
              <a:buNone/>
            </a:pPr>
            <a:r>
              <a:rPr lang="pt-BR" sz="7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marL="0" lvl="0" indent="0" algn="just">
              <a:lnSpc>
                <a:spcPts val="1000"/>
              </a:lnSpc>
              <a:buNone/>
            </a:pPr>
            <a:r>
              <a:rPr lang="pt-BR" sz="700" dirty="0">
                <a:solidFill>
                  <a:schemeClr val="accent6"/>
                </a:solidFill>
              </a:rPr>
              <a:t>10)SAC.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0" lvl="0" indent="0" algn="just">
              <a:lnSpc>
                <a:spcPts val="1000"/>
              </a:lnSpc>
              <a:buNone/>
            </a:pPr>
            <a:r>
              <a:rPr lang="pt-BR" sz="700" dirty="0">
                <a:solidFill>
                  <a:schemeClr val="accent6"/>
                </a:solidFill>
              </a:rPr>
              <a:t>11)O custo da operação e a política de cobrança estão definidos nas tabelas de custos operacionais disponibilizadas no site da XP Investimentos: </a:t>
            </a:r>
            <a:r>
              <a:rPr lang="pt-BR" sz="700" dirty="0" err="1">
                <a:solidFill>
                  <a:schemeClr val="accent6"/>
                </a:solidFill>
              </a:rPr>
              <a:t>www.xpi.com.br</a:t>
            </a:r>
            <a:r>
              <a:rPr lang="pt-BR" sz="700" dirty="0">
                <a:solidFill>
                  <a:schemeClr val="accent6"/>
                </a:solidFill>
              </a:rPr>
              <a:t>. </a:t>
            </a:r>
          </a:p>
          <a:p>
            <a:pPr marL="0" lvl="0" indent="0" algn="just">
              <a:lnSpc>
                <a:spcPts val="1000"/>
              </a:lnSpc>
              <a:buNone/>
            </a:pPr>
            <a:r>
              <a:rPr lang="pt-BR" sz="700" dirty="0">
                <a:solidFill>
                  <a:schemeClr val="accent6"/>
                </a:solidFill>
              </a:rPr>
              <a:t>12)A XP Investimentos se exime de qualquer responsabilidade por quaisquer prejuízos, diretos ou indiretos, que venham a decorrer da utilização deste relatório ou seu conteúdo. </a:t>
            </a:r>
          </a:p>
          <a:p>
            <a:pPr marL="0" lvl="0" indent="0" algn="just">
              <a:lnSpc>
                <a:spcPts val="1000"/>
              </a:lnSpc>
              <a:buNone/>
            </a:pPr>
            <a:r>
              <a:rPr lang="pt-BR" sz="700" dirty="0">
                <a:solidFill>
                  <a:schemeClr val="accent6"/>
                </a:solidFill>
              </a:rPr>
              <a:t>13) A Avaliação Técnica e a Avaliação de Fundamentos seguem diferentes metodologias de análise. A Análise Técnica é executada seguindo conceitos como tendência, suporte, resistência, </a:t>
            </a:r>
            <a:r>
              <a:rPr lang="pt-BR" sz="700" dirty="0" err="1">
                <a:solidFill>
                  <a:schemeClr val="accent6"/>
                </a:solidFill>
              </a:rPr>
              <a:t>candles</a:t>
            </a:r>
            <a:r>
              <a:rPr lang="pt-BR" sz="7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accent6"/>
                </a:solidFill>
              </a:rPr>
              <a:t>stops</a:t>
            </a:r>
            <a:r>
              <a:rPr lang="pt-BR" sz="700" dirty="0">
                <a:solidFill>
                  <a:schemeClr val="accent6"/>
                </a:solidFill>
              </a:rPr>
              <a:t>” para limitar as possíveis perdas.  </a:t>
            </a:r>
          </a:p>
          <a:p>
            <a:pPr marL="0" lvl="0" indent="0" algn="just">
              <a:lnSpc>
                <a:spcPts val="1000"/>
              </a:lnSpc>
              <a:buNone/>
            </a:pPr>
            <a:r>
              <a:rPr lang="pt-BR" sz="700" dirty="0">
                <a:solidFill>
                  <a:schemeClr val="accent6"/>
                </a:solidFill>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 </a:t>
            </a:r>
          </a:p>
          <a:p>
            <a:pPr marL="0" lvl="0" indent="0" algn="just">
              <a:lnSpc>
                <a:spcPts val="1000"/>
              </a:lnSpc>
              <a:buNone/>
            </a:pPr>
            <a:r>
              <a:rPr lang="pt-BR" sz="700" dirty="0">
                <a:solidFill>
                  <a:schemeClr val="accent6"/>
                </a:solidFill>
              </a:rPr>
              <a:t>15)O investimento em opções é preferencialmente indicado para investidores de perfil agressivo, de acordo com a política de </a:t>
            </a:r>
            <a:r>
              <a:rPr lang="pt-BR" sz="700" dirty="0" err="1">
                <a:solidFill>
                  <a:schemeClr val="accent6"/>
                </a:solidFill>
              </a:rPr>
              <a:t>suitability</a:t>
            </a:r>
            <a:r>
              <a:rPr lang="pt-BR" sz="700" dirty="0">
                <a:solidFill>
                  <a:schemeClr val="accent6"/>
                </a:solidFill>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0" lvl="0" indent="0" algn="just">
              <a:lnSpc>
                <a:spcPts val="1000"/>
              </a:lnSpc>
              <a:buNone/>
            </a:pPr>
            <a:r>
              <a:rPr lang="pt-BR" sz="700" dirty="0">
                <a:solidFill>
                  <a:schemeClr val="accent6"/>
                </a:solidFill>
              </a:rPr>
              <a:t>16)O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0" lvl="0" indent="0" algn="just">
              <a:lnSpc>
                <a:spcPts val="1000"/>
              </a:lnSpc>
              <a:buNone/>
            </a:pPr>
            <a:r>
              <a:rPr lang="pt-BR" sz="700" dirty="0">
                <a:solidFill>
                  <a:schemeClr val="accent6"/>
                </a:solidFill>
              </a:rPr>
              <a:t>17)O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1000"/>
              </a:lnSpc>
              <a:buNone/>
            </a:pPr>
            <a:r>
              <a:rPr lang="pt-BR" sz="700" dirty="0">
                <a:solidFill>
                  <a:schemeClr val="accent6"/>
                </a:solidFill>
              </a:rPr>
              <a:t>18)ESTA INSTITUIÇÃO É ADERENTE AO CÓDIGO ANBIMA DE REGULAÇÃO E MELHORES PRÁTICAS PARA ATIVIDADE DE DISTRIBUIÇÃO DE PRODUTOS DE INVESTIMENTO NO VAREJO. </a:t>
            </a:r>
          </a:p>
        </p:txBody>
      </p:sp>
    </p:spTree>
    <p:extLst>
      <p:ext uri="{BB962C8B-B14F-4D97-AF65-F5344CB8AC3E}">
        <p14:creationId xmlns:p14="http://schemas.microsoft.com/office/powerpoint/2010/main" val="42714625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5320AD-2789-47B9-98B2-D6704CDC0DB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8" name="Picture 27" descr="A picture containing dark, night sky&#10;&#10;Description automatically generated">
            <a:extLst>
              <a:ext uri="{FF2B5EF4-FFF2-40B4-BE49-F238E27FC236}">
                <a16:creationId xmlns:a16="http://schemas.microsoft.com/office/drawing/2014/main" id="{937A3FB1-8371-4550-879B-08570ED755BD}"/>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5" name="Group 4">
            <a:extLst>
              <a:ext uri="{FF2B5EF4-FFF2-40B4-BE49-F238E27FC236}">
                <a16:creationId xmlns:a16="http://schemas.microsoft.com/office/drawing/2014/main" id="{8344B5D1-A9AC-4599-84FD-4AA7F9C73C30}"/>
              </a:ext>
            </a:extLst>
          </p:cNvPr>
          <p:cNvGrpSpPr/>
          <p:nvPr userDrawn="1"/>
        </p:nvGrpSpPr>
        <p:grpSpPr>
          <a:xfrm>
            <a:off x="-1002" y="0"/>
            <a:ext cx="12193002" cy="6136211"/>
            <a:chOff x="-1486" y="-3020401"/>
            <a:chExt cx="18086753" cy="9102281"/>
          </a:xfrm>
        </p:grpSpPr>
        <p:cxnSp>
          <p:nvCxnSpPr>
            <p:cNvPr id="18" name="Straight Connector 17">
              <a:extLst>
                <a:ext uri="{FF2B5EF4-FFF2-40B4-BE49-F238E27FC236}">
                  <a16:creationId xmlns:a16="http://schemas.microsoft.com/office/drawing/2014/main" id="{43215B28-AC92-4E00-8FC2-571ACFB81F79}"/>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E47EB6-6FF8-40F8-BCAB-9714324D34FA}"/>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30" name="Freeform: Shape 29">
            <a:extLst>
              <a:ext uri="{FF2B5EF4-FFF2-40B4-BE49-F238E27FC236}">
                <a16:creationId xmlns:a16="http://schemas.microsoft.com/office/drawing/2014/main" id="{4632403F-4B9F-429E-9B25-0ECDFD42CF19}"/>
              </a:ext>
            </a:extLst>
          </p:cNvPr>
          <p:cNvSpPr/>
          <p:nvPr userDrawn="1"/>
        </p:nvSpPr>
        <p:spPr>
          <a:xfrm>
            <a:off x="5762123" y="3127829"/>
            <a:ext cx="667754" cy="602342"/>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17" name="Graphic 16">
            <a:extLst>
              <a:ext uri="{FF2B5EF4-FFF2-40B4-BE49-F238E27FC236}">
                <a16:creationId xmlns:a16="http://schemas.microsoft.com/office/drawing/2014/main" id="{120D6684-9CB4-432C-84B7-4ABC08AE7CC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53750" y="6376921"/>
            <a:ext cx="924497" cy="213562"/>
          </a:xfrm>
          <a:prstGeom prst="rect">
            <a:avLst/>
          </a:prstGeom>
        </p:spPr>
      </p:pic>
    </p:spTree>
    <p:extLst>
      <p:ext uri="{BB962C8B-B14F-4D97-AF65-F5344CB8AC3E}">
        <p14:creationId xmlns:p14="http://schemas.microsoft.com/office/powerpoint/2010/main" val="42466231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0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03353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09026" y="345645"/>
            <a:ext cx="3146424" cy="210546"/>
          </a:xfrm>
          <a:prstGeom prst="rect">
            <a:avLst/>
          </a:prstGeom>
        </p:spPr>
        <p:txBody>
          <a:bodyPr vert="horz" lIns="91440" tIns="45720" rIns="91440" bIns="45720" rtlCol="0" anchor="ctr"/>
          <a:lstStyle>
            <a:lvl1pPr algn="r">
              <a:defRPr sz="1100">
                <a:solidFill>
                  <a:schemeClr val="tx2"/>
                </a:solidFill>
                <a:latin typeface="+mn-lt"/>
                <a:ea typeface="Roboto Slab" pitchFamily="2" charset="0"/>
                <a:cs typeface="Roboto" panose="02000000000000000000" pitchFamily="2" charset="0"/>
              </a:defRPr>
            </a:lvl1pPr>
          </a:lstStyle>
          <a:p>
            <a:fld id="{5A4CF137-961F-40CC-9272-458A69979960}" type="datetime4">
              <a:rPr lang="pt-BR" smtClean="0"/>
              <a:pPr/>
              <a:t>2 de julho de 2026</a:t>
            </a:fld>
            <a:endParaRPr lang="en-US" dirty="0"/>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1100" dirty="0" err="1"/>
              <a:t>Estratégia</a:t>
            </a:r>
            <a:r>
              <a:rPr lang="en-US" sz="1100" dirty="0"/>
              <a:t> | </a:t>
            </a:r>
            <a:r>
              <a:rPr lang="en-US" sz="1100" dirty="0" err="1"/>
              <a:t>Carteira</a:t>
            </a:r>
            <a:r>
              <a:rPr lang="en-US" sz="1100" dirty="0"/>
              <a:t> XP</a:t>
            </a:r>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 id="2147483918" r:id="rId2"/>
    <p:sldLayoutId id="2147483920" r:id="rId3"/>
    <p:sldLayoutId id="2147483941"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47" r:id="rId16"/>
    <p:sldLayoutId id="2147483948" r:id="rId17"/>
    <p:sldLayoutId id="2147483949" r:id="rId18"/>
    <p:sldLayoutId id="2147483950" r:id="rId19"/>
    <p:sldLayoutId id="2147483951" r:id="rId20"/>
    <p:sldLayoutId id="2147483944" r:id="rId21"/>
    <p:sldLayoutId id="2147483942" r:id="rId22"/>
    <p:sldLayoutId id="2147483943" r:id="rId23"/>
    <p:sldLayoutId id="2147483893" r:id="rId24"/>
    <p:sldLayoutId id="2147483952" r:id="rId25"/>
    <p:sldLayoutId id="2147483946" r:id="rId26"/>
    <p:sldLayoutId id="2147483965" r:id="rId27"/>
    <p:sldLayoutId id="2147483916" r:id="rId28"/>
    <p:sldLayoutId id="2147483964" r:id="rId29"/>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conteudos.xpi.com.br/acoes/ROXO34" TargetMode="External"/><Relationship Id="rId4" Type="http://schemas.openxmlformats.org/officeDocument/2006/relationships/hyperlink" Target="https://conteudos.xpi.com.br/acoes/BPAC11" TargetMode="External"/><Relationship Id="rId5" Type="http://schemas.openxmlformats.org/officeDocument/2006/relationships/hyperlink" Target="https://conteudos.xpi.com.br/acoes/GGBR4" TargetMode="External"/><Relationship Id="rId6" Type="http://schemas.openxmlformats.org/officeDocument/2006/relationships/hyperlink" Target="https://conteudos.xpi.com.br/acoes/VALE3" TargetMode="External"/><Relationship Id="rId7" Type="http://schemas.openxmlformats.org/officeDocument/2006/relationships/hyperlink" Target="https://conteudos.xpi.com.br/acoes/CURY3" TargetMode="External"/><Relationship Id="rId8" Type="http://schemas.openxmlformats.org/officeDocument/2006/relationships/hyperlink" Target="https://conteudos.xpi.com.br/acoes/PRIO3" TargetMode="External"/><Relationship Id="rId9" Type="http://schemas.openxmlformats.org/officeDocument/2006/relationships/hyperlink" Target="https://conteudos.xpi.com.br/acoes/EMBJ3" TargetMode="External"/><Relationship Id="rId10" Type="http://schemas.openxmlformats.org/officeDocument/2006/relationships/hyperlink" Target="https://conteudos.xpi.com.br/acoes/TOTS3" TargetMode="External"/><Relationship Id="rId11" Type="http://schemas.openxmlformats.org/officeDocument/2006/relationships/hyperlink" Target="https://conteudos.xpi.com.br/acoes/IGTI11" TargetMode="External"/><Relationship Id="rId12" Type="http://schemas.openxmlformats.org/officeDocument/2006/relationships/hyperlink" Target="https://conteudos.xpi.com.br/acoes/RDOR3" TargetMode="External"/><Relationship Id="rId13" Type="http://schemas.openxmlformats.org/officeDocument/2006/relationships/hyperlink" Target="https://conteudos.xpi.com.br/acoes/AXIA3" TargetMode="External"/><Relationship Id="rId14" Type="http://schemas.openxmlformats.org/officeDocument/2006/relationships/hyperlink" Target="https://conteudos.xpi.com.br/acoes/SBSP3" TargetMode="External"/><Relationship Id="rId15" Type="http://schemas.openxmlformats.org/officeDocument/2006/relationships/hyperlink" Target="https://conteudos.xpi.com.br/acoes/PETR4" TargetMode="External"/><Relationship Id="rId16" Type="http://schemas.openxmlformats.org/officeDocument/2006/relationships/hyperlink" Target="https://conteudos.xpi.com.br/acoes/ITUB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Data 4">
            <a:extLst>
              <a:ext uri="{FF2B5EF4-FFF2-40B4-BE49-F238E27FC236}">
                <a16:creationId xmlns:a16="http://schemas.microsoft.com/office/drawing/2014/main" id="{A351857F-E6D9-4751-A8F0-9CAA7E1C3ED9}"/>
              </a:ext>
            </a:extLst>
          </p:cNvPr>
          <p:cNvSpPr>
            <a:spLocks noGrp="1"/>
          </p:cNvSpPr>
          <p:nvPr>
            <p:ph type="dt" sz="half" idx="2"/>
          </p:nvPr>
        </p:nvSpPr>
        <p:spPr/>
        <p:txBody>
          <a:bodyPr/>
          <a:lstStyle/>
          <a:p>
            <a:fld id="{DEF07EAB-FF36-413A-9F9A-0AF5F3187EB1}" type="datetime4">
              <a:rPr lang="pt-BR" smtClean="0"/>
              <a:t>1 de setembro de 2026</a:t>
            </a:fld>
            <a:endParaRPr lang="en-US" dirty="0"/>
          </a:p>
        </p:txBody>
      </p:sp>
      <p:sp>
        <p:nvSpPr>
          <p:cNvPr id="16" name="Espaço Reservado para Texto 15">
            <a:extLst>
              <a:ext uri="{FF2B5EF4-FFF2-40B4-BE49-F238E27FC236}">
                <a16:creationId xmlns:a16="http://schemas.microsoft.com/office/drawing/2014/main" id="{07E0A3AD-562A-481D-87E7-55826769C801}"/>
              </a:ext>
            </a:extLst>
          </p:cNvPr>
          <p:cNvSpPr>
            <a:spLocks noGrp="1"/>
          </p:cNvSpPr>
          <p:nvPr>
            <p:ph type="body" sz="quarter" idx="19"/>
          </p:nvPr>
        </p:nvSpPr>
        <p:spPr/>
        <p:txBody>
          <a:bodyPr/>
          <a:lstStyle/>
          <a:p>
            <a:r>
              <a:rPr lang="en-US" sz="1100" dirty="0" err="1">
                <a:solidFill>
                  <a:schemeClr val="bg1"/>
                </a:solidFill>
                <a:latin typeface="Roboto Light" panose="02000000000000000000" pitchFamily="2" charset="0"/>
                <a:ea typeface="Roboto Light" panose="02000000000000000000" pitchFamily="2" charset="0"/>
                <a:cs typeface="Roboto" panose="02000000000000000000" pitchFamily="2" charset="0"/>
              </a:rPr>
              <a:t>Carteira</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Top </a:t>
            </a:r>
            <a:r>
              <a:rPr lang="en-US" dirty="0" err="1">
                <a:cs typeface="Roboto" panose="02000000000000000000" pitchFamily="2" charset="0"/>
              </a:rPr>
              <a:t>Ações</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XP</a:t>
            </a:r>
            <a:endParaRPr lang="pt-BR" dirty="0"/>
          </a:p>
        </p:txBody>
      </p:sp>
      <p:sp>
        <p:nvSpPr>
          <p:cNvPr id="17" name="Espaço Reservado para Texto 16">
            <a:extLst>
              <a:ext uri="{FF2B5EF4-FFF2-40B4-BE49-F238E27FC236}">
                <a16:creationId xmlns:a16="http://schemas.microsoft.com/office/drawing/2014/main" id="{49730D53-63A4-4B5A-8DC4-10E3ECEA54FF}"/>
              </a:ext>
            </a:extLst>
          </p:cNvPr>
          <p:cNvSpPr>
            <a:spLocks noGrp="1"/>
          </p:cNvSpPr>
          <p:nvPr>
            <p:ph type="body" sz="quarter" idx="18"/>
          </p:nvPr>
        </p:nvSpPr>
        <p:spPr/>
        <p:txBody>
          <a:bodyPr/>
          <a:lstStyle/>
          <a:p>
            <a:r>
              <a:rPr lang="pt-BR" dirty="0"/>
              <a:t>Fonte: </a:t>
            </a:r>
            <a:r>
              <a:rPr lang="pt-BR" dirty="0" err="1"/>
              <a:t>Economatica</a:t>
            </a:r>
            <a:r>
              <a:rPr lang="pt-BR" dirty="0"/>
              <a:t> e XP </a:t>
            </a:r>
            <a:r>
              <a:rPr lang="pt-BR" dirty="0" err="1"/>
              <a:t>Research</a:t>
            </a:r>
            <a:r>
              <a:rPr lang="pt-BR" dirty="0"/>
              <a:t>. Retornos da carteira incluem dividendos. Dados até 31/08/2026. /  Sempre consulte seu assessor de investimentos</a:t>
            </a:r>
          </a:p>
        </p:txBody>
      </p:sp>
      <p:cxnSp>
        <p:nvCxnSpPr>
          <p:cNvPr id="25" name="Straight Connector 24">
            <a:extLst>
              <a:ext uri="{FF2B5EF4-FFF2-40B4-BE49-F238E27FC236}">
                <a16:creationId xmlns:a16="http://schemas.microsoft.com/office/drawing/2014/main" id="{A998183D-86CA-4665-9E6C-99F562E3167F}"/>
              </a:ext>
            </a:extLst>
          </p:cNvPr>
          <p:cNvCxnSpPr>
            <a:cxnSpLocks/>
          </p:cNvCxnSpPr>
          <p:nvPr/>
        </p:nvCxnSpPr>
        <p:spPr>
          <a:xfrm>
            <a:off x="9897108" y="1512325"/>
            <a:ext cx="0" cy="478829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Content Placeholder 1">
            <a:extLst>
              <a:ext uri="{FF2B5EF4-FFF2-40B4-BE49-F238E27FC236}">
                <a16:creationId xmlns:a16="http://schemas.microsoft.com/office/drawing/2014/main" id="{5E30EA56-FE1A-43A3-8879-92E308006E1E}"/>
              </a:ext>
            </a:extLst>
          </p:cNvPr>
          <p:cNvSpPr>
            <a:spLocks noGrp="1"/>
          </p:cNvSpPr>
          <p:nvPr>
            <p:ph sz="quarter" idx="22"/>
          </p:nvPr>
        </p:nvSpPr>
        <p:spPr>
          <a:xfrm>
            <a:off x="10013464" y="1604033"/>
            <a:ext cx="1914195" cy="184666"/>
          </a:xfrm>
        </p:spPr>
        <p:txBody>
          <a:bodyPr/>
          <a:lstStyle/>
          <a:p>
            <a:r>
              <a:rPr lang="en-US" sz="1200" b="1" dirty="0">
                <a:solidFill>
                  <a:schemeClr val="bg2">
                    <a:lumMod val="25000"/>
                  </a:schemeClr>
                </a:solidFill>
                <a:latin typeface="Roboto Light" panose="02000000000000000000" pitchFamily="2" charset="0"/>
                <a:ea typeface="Roboto Light" panose="02000000000000000000" pitchFamily="2" charset="0"/>
                <a:cs typeface="Roboto Medium" panose="02000000000000000000" pitchFamily="2" charset="0"/>
              </a:rPr>
              <a:t>Fernando Ferreira</a:t>
            </a:r>
          </a:p>
        </p:txBody>
      </p:sp>
      <p:sp>
        <p:nvSpPr>
          <p:cNvPr id="36" name="Content Placeholder 7">
            <a:extLst>
              <a:ext uri="{FF2B5EF4-FFF2-40B4-BE49-F238E27FC236}">
                <a16:creationId xmlns:a16="http://schemas.microsoft.com/office/drawing/2014/main" id="{B46D56BD-F3F6-4361-BD93-444409D2FF7E}"/>
              </a:ext>
            </a:extLst>
          </p:cNvPr>
          <p:cNvSpPr>
            <a:spLocks noGrp="1"/>
          </p:cNvSpPr>
          <p:nvPr>
            <p:ph sz="quarter" idx="25"/>
          </p:nvPr>
        </p:nvSpPr>
        <p:spPr>
          <a:xfrm>
            <a:off x="10013464" y="1818801"/>
            <a:ext cx="1914195" cy="307777"/>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Estrategista-Chefe</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e Head do Research</a:t>
            </a:r>
          </a:p>
        </p:txBody>
      </p:sp>
      <p:sp>
        <p:nvSpPr>
          <p:cNvPr id="38" name="Content Placeholder 9">
            <a:extLst>
              <a:ext uri="{FF2B5EF4-FFF2-40B4-BE49-F238E27FC236}">
                <a16:creationId xmlns:a16="http://schemas.microsoft.com/office/drawing/2014/main" id="{B0FF2A93-54E6-4AD5-A01E-BE06D4F6D65B}"/>
              </a:ext>
            </a:extLst>
          </p:cNvPr>
          <p:cNvSpPr>
            <a:spLocks noGrp="1"/>
          </p:cNvSpPr>
          <p:nvPr>
            <p:ph sz="quarter" idx="27"/>
          </p:nvPr>
        </p:nvSpPr>
        <p:spPr>
          <a:xfrm>
            <a:off x="10013464" y="2197896"/>
            <a:ext cx="1914195" cy="184666"/>
          </a:xfrm>
        </p:spPr>
        <p:txBody>
          <a:bodyPr/>
          <a:lstStyle/>
          <a:p>
            <a:r>
              <a:rPr lang="en-US" dirty="0">
                <a:solidFill>
                  <a:schemeClr val="bg2">
                    <a:lumMod val="25000"/>
                  </a:schemeClr>
                </a:solidFill>
                <a:cs typeface="Roboto Medium" panose="02000000000000000000" pitchFamily="2" charset="0"/>
              </a:rPr>
              <a:t>Raphael Figueredo</a:t>
            </a:r>
          </a:p>
        </p:txBody>
      </p:sp>
      <p:sp>
        <p:nvSpPr>
          <p:cNvPr id="39" name="Content Placeholder 10">
            <a:extLst>
              <a:ext uri="{FF2B5EF4-FFF2-40B4-BE49-F238E27FC236}">
                <a16:creationId xmlns:a16="http://schemas.microsoft.com/office/drawing/2014/main" id="{B55145B5-0428-400E-B896-5AB220409E8D}"/>
              </a:ext>
            </a:extLst>
          </p:cNvPr>
          <p:cNvSpPr>
            <a:spLocks noGrp="1"/>
          </p:cNvSpPr>
          <p:nvPr>
            <p:ph sz="quarter" idx="28"/>
          </p:nvPr>
        </p:nvSpPr>
        <p:spPr>
          <a:xfrm>
            <a:off x="10013464" y="2404212"/>
            <a:ext cx="1914195" cy="307777"/>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de </a:t>
            </a:r>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Ações</a:t>
            </a:r>
            <a:endPar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endParaRPr>
          </a:p>
          <a:p>
            <a:endParaRPr lang="en-US" dirty="0"/>
          </a:p>
        </p:txBody>
      </p:sp>
      <p:sp>
        <p:nvSpPr>
          <p:cNvPr id="7" name="Text Placeholder 6">
            <a:extLst>
              <a:ext uri="{FF2B5EF4-FFF2-40B4-BE49-F238E27FC236}">
                <a16:creationId xmlns:a16="http://schemas.microsoft.com/office/drawing/2014/main" id="{D77F947B-E22B-48F4-1327-04CD6A362DE6}"/>
              </a:ext>
            </a:extLst>
          </p:cNvPr>
          <p:cNvSpPr>
            <a:spLocks noGrp="1"/>
          </p:cNvSpPr>
          <p:nvPr>
            <p:ph type="body" sz="quarter" idx="24"/>
          </p:nvPr>
        </p:nvSpPr>
        <p:spPr>
          <a:xfrm>
            <a:off x="336001" y="1100996"/>
            <a:ext cx="11518900" cy="663055"/>
          </a:xfrm>
        </p:spPr>
        <p:txBody>
          <a:bodyPr/>
          <a:lstStyle/>
          <a:p>
            <a:r>
              <a:rPr lang="pt-BR" dirty="0"/>
              <a:t>Setembro 2026</a:t>
            </a:r>
            <a:endParaRPr lang="en-US" dirty="0"/>
          </a:p>
        </p:txBody>
      </p:sp>
      <p:sp>
        <p:nvSpPr>
          <p:cNvPr id="29" name="Text Placeholder 28">
            <a:extLst>
              <a:ext uri="{FF2B5EF4-FFF2-40B4-BE49-F238E27FC236}">
                <a16:creationId xmlns:a16="http://schemas.microsoft.com/office/drawing/2014/main" id="{C46BAFED-1C7F-25F8-BDA4-5844B897B02B}"/>
              </a:ext>
            </a:extLst>
          </p:cNvPr>
          <p:cNvSpPr>
            <a:spLocks noGrp="1"/>
          </p:cNvSpPr>
          <p:nvPr>
            <p:ph type="body" sz="quarter" idx="17"/>
          </p:nvPr>
        </p:nvSpPr>
        <p:spPr>
          <a:xfrm>
            <a:off x="336001" y="756238"/>
            <a:ext cx="11518900" cy="299659"/>
          </a:xfrm>
        </p:spPr>
        <p:txBody>
          <a:bodyPr/>
          <a:lstStyle/>
          <a:p>
            <a:r>
              <a:rPr lang="pt-BR" sz="1600" dirty="0"/>
              <a:t>Adicionando CURY3 e AXIA3; aumentando RDOR3; removendo LREN3 e ORVR3; reduzindo ITUB4 e ROXO34</a:t>
            </a:r>
          </a:p>
        </p:txBody>
      </p:sp>
      <p:sp>
        <p:nvSpPr>
          <p:cNvPr id="31" name="Text Placeholder 30">
            <a:extLst>
              <a:ext uri="{FF2B5EF4-FFF2-40B4-BE49-F238E27FC236}">
                <a16:creationId xmlns:a16="http://schemas.microsoft.com/office/drawing/2014/main" id="{E808D39E-4E5D-288B-A000-23E311BBC7EE}"/>
              </a:ext>
            </a:extLst>
          </p:cNvPr>
          <p:cNvSpPr>
            <a:spLocks noGrp="1"/>
          </p:cNvSpPr>
          <p:nvPr>
            <p:ph type="body" sz="quarter" idx="16"/>
          </p:nvPr>
        </p:nvSpPr>
        <p:spPr/>
        <p:txBody>
          <a:bodyPr/>
          <a:lstStyle/>
          <a:p>
            <a:r>
              <a:rPr lang="pt-BR" dirty="0"/>
              <a:t>Carteira Top Ações XP</a:t>
            </a:r>
            <a:endParaRPr lang="en-US" dirty="0"/>
          </a:p>
        </p:txBody>
      </p:sp>
      <p:sp>
        <p:nvSpPr>
          <p:cNvPr id="8" name="Content Placeholder 9">
            <a:extLst>
              <a:ext uri="{FF2B5EF4-FFF2-40B4-BE49-F238E27FC236}">
                <a16:creationId xmlns:a16="http://schemas.microsoft.com/office/drawing/2014/main" id="{772E8317-4FC8-FCD6-FD32-4337A6A31DC0}"/>
              </a:ext>
            </a:extLst>
          </p:cNvPr>
          <p:cNvSpPr txBox="1">
            <a:spLocks/>
          </p:cNvSpPr>
          <p:nvPr/>
        </p:nvSpPr>
        <p:spPr>
          <a:xfrm>
            <a:off x="10013464" y="3184959"/>
            <a:ext cx="1914195" cy="369332"/>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solidFill>
                  <a:schemeClr val="bg2">
                    <a:lumMod val="25000"/>
                  </a:schemeClr>
                </a:solidFill>
                <a:cs typeface="Roboto Medium" panose="02000000000000000000" pitchFamily="2" charset="0"/>
              </a:rPr>
              <a:t>Research XP</a:t>
            </a:r>
          </a:p>
          <a:p>
            <a:endParaRPr lang="en-US" dirty="0"/>
          </a:p>
        </p:txBody>
      </p:sp>
      <p:sp>
        <p:nvSpPr>
          <p:cNvPr id="11" name="Espaço Reservado para Conteúdo 3">
            <a:extLst>
              <a:ext uri="{FF2B5EF4-FFF2-40B4-BE49-F238E27FC236}">
                <a16:creationId xmlns:a16="http://schemas.microsoft.com/office/drawing/2014/main" id="{072FA5C5-EA83-9853-6581-F665BF22ABDE}"/>
              </a:ext>
            </a:extLst>
          </p:cNvPr>
          <p:cNvSpPr txBox="1">
            <a:spLocks/>
          </p:cNvSpPr>
          <p:nvPr/>
        </p:nvSpPr>
        <p:spPr>
          <a:xfrm>
            <a:off x="335998" y="1594470"/>
            <a:ext cx="9468000" cy="1035322"/>
          </a:xfrm>
          <a:prstGeom prst="rect">
            <a:avLst/>
          </a:prstGeom>
          <a:solidFill>
            <a:schemeClr val="bg1">
              <a:lumMod val="95000"/>
            </a:schemeClr>
          </a:solidFill>
        </p:spPr>
        <p:txBody>
          <a:bodyPr lIns="36000" tIns="36000" rIns="36000" bIns="36000" anchor="ctr">
            <a:noAutofit/>
          </a:bodyPr>
          <a:lstStyle>
            <a:lvl1pPr marL="0" indent="0" algn="just" defTabSz="685808" rtl="0" eaLnBrk="1" latinLnBrk="0" hangingPunct="1">
              <a:lnSpc>
                <a:spcPct val="125000"/>
              </a:lnSpc>
              <a:spcBef>
                <a:spcPts val="600"/>
              </a:spcBef>
              <a:buFont typeface="Arial" panose="020B0604020202020204" pitchFamily="34" charset="0"/>
              <a:buNone/>
              <a:defRPr sz="1000" b="0" kern="120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defTabSz="914400">
              <a:lnSpc>
                <a:spcPct val="100000"/>
              </a:lnSpc>
              <a:defRPr/>
            </a:pPr>
            <a:r>
              <a:rPr lang="pt-BR" sz="900" b="1" dirty="0"/>
              <a:t>Estamos adicionando AXIA3 com 7,5%.</a:t>
            </a:r>
            <a:r>
              <a:rPr lang="pt-BR" sz="900" dirty="0"/>
              <a:t xml:space="preserve"> A forte visibilidade da companhia entre os estrangeiros e um potencial aumento na alocação em Brasil podem dar suporte às ações. À frente, o El Niño pode elevar os riscos de ondas de calor e a volatilidade da geração eólica, sustentando os preços de energia no 4T26. </a:t>
            </a:r>
            <a:r>
              <a:rPr lang="pt-BR" sz="900" b="1" dirty="0"/>
              <a:t xml:space="preserve">Estamos adicionando CURY3 com 5%, </a:t>
            </a:r>
            <a:r>
              <a:rPr lang="pt-BR" sz="900" dirty="0"/>
              <a:t xml:space="preserve">nossa principal escolha entre as construtoras de baixa renda. A tese segue apoiada por execução consistente, elevada rentabilidade, forte geração de caixa e perfil atrativo de dividendos. </a:t>
            </a:r>
            <a:r>
              <a:rPr lang="pt-BR" sz="900" b="1" dirty="0"/>
              <a:t>Estamos aumentando nossa exposição a RDOR3 de 7,5% para 10%</a:t>
            </a:r>
            <a:r>
              <a:rPr lang="pt-BR" sz="900" dirty="0"/>
              <a:t xml:space="preserve">, líder de mercado com posicionamento forte em hospitais e em planos de saúde, o que sustenta ganhos contínuos de participação de mercado. </a:t>
            </a:r>
            <a:r>
              <a:rPr lang="pt-BR" sz="900" b="1" dirty="0"/>
              <a:t>Estamos reduzindo o peso de ITUB4 de 10,0% para 7,5% e ROXO34 de 7,5% para 5,0%</a:t>
            </a:r>
            <a:r>
              <a:rPr lang="pt-BR" sz="900" dirty="0"/>
              <a:t xml:space="preserve">, diante de um cenário macroeconômico e de crédito mais desafiador. </a:t>
            </a:r>
            <a:r>
              <a:rPr lang="pt-BR" sz="900" b="1" dirty="0"/>
              <a:t>Estamos retirando ORVR3 (de 5%).</a:t>
            </a:r>
            <a:r>
              <a:rPr lang="pt-BR" sz="900" dirty="0"/>
              <a:t xml:space="preserve"> Seguimos construtivos no longo prazo, mas as incertezas de curto prazo devem continuar pressionando os próximos resultados. </a:t>
            </a:r>
            <a:r>
              <a:rPr lang="pt-BR" sz="900" b="1" dirty="0"/>
              <a:t>Estamos zerando nossa posição em LREN3.</a:t>
            </a:r>
            <a:r>
              <a:rPr lang="pt-BR" sz="900" dirty="0"/>
              <a:t xml:space="preserve"> Entre os riscos, destacamos a revogação definitiva da taxação das encomendas internacionais de baixo valor, um cenário macroeconômico ainda desafiador e um 3T pressionado.</a:t>
            </a:r>
            <a:endParaRPr lang="pt-BR" sz="800" b="1" dirty="0"/>
          </a:p>
        </p:txBody>
      </p:sp>
      <p:sp>
        <p:nvSpPr>
          <p:cNvPr id="12" name="Espaço Reservado para Conteúdo 17">
            <a:extLst>
              <a:ext uri="{FF2B5EF4-FFF2-40B4-BE49-F238E27FC236}">
                <a16:creationId xmlns:a16="http://schemas.microsoft.com/office/drawing/2014/main" id="{F9288861-89DB-FA91-60F8-42C6329D9C1B}"/>
              </a:ext>
            </a:extLst>
          </p:cNvPr>
          <p:cNvSpPr txBox="1">
            <a:spLocks/>
          </p:cNvSpPr>
          <p:nvPr/>
        </p:nvSpPr>
        <p:spPr>
          <a:xfrm>
            <a:off x="335998" y="2632975"/>
            <a:ext cx="9540000" cy="790697"/>
          </a:xfrm>
          <a:prstGeom prst="rect">
            <a:avLst/>
          </a:prstGeom>
        </p:spPr>
        <p:txBody>
          <a:bodyPr lIns="0">
            <a:noAutofit/>
          </a:bodyPr>
          <a:lstStyle>
            <a:lvl1pPr marL="0" indent="0" algn="just" defTabSz="685808" rtl="0" eaLnBrk="1" latinLnBrk="0" hangingPunct="1">
              <a:lnSpc>
                <a:spcPct val="125000"/>
              </a:lnSpc>
              <a:spcBef>
                <a:spcPts val="60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b="1" dirty="0"/>
              <a:t>Esta carteira é composta por papéis que são os principais nomes indicados pelos nossos analistas do Research XP.</a:t>
            </a:r>
            <a:r>
              <a:rPr lang="pt-BR" dirty="0"/>
              <a:t> A composição da carteira será analisada mensalmente pelos analistas da equipe, e ela pode ou não sofrer alterações a cada mês. O objetivo da Carteira Top Ações é superar o desempenho do índice Ibovespa no horizonte de longo prazo. As principais características que buscamos nos papéis que compõem a carteira são: i) Visão de longo prazo; </a:t>
            </a:r>
            <a:r>
              <a:rPr lang="pt-BR" dirty="0" err="1"/>
              <a:t>ii</a:t>
            </a:r>
            <a:r>
              <a:rPr lang="pt-BR" dirty="0"/>
              <a:t>) Diversificação setorial; (</a:t>
            </a:r>
            <a:r>
              <a:rPr lang="pt-BR" dirty="0" err="1"/>
              <a:t>iii</a:t>
            </a:r>
            <a:r>
              <a:rPr lang="pt-BR" dirty="0"/>
              <a:t>) Ações com </a:t>
            </a:r>
            <a:r>
              <a:rPr lang="pt-BR" dirty="0" err="1"/>
              <a:t>valuation</a:t>
            </a:r>
            <a:r>
              <a:rPr lang="pt-BR" dirty="0"/>
              <a:t> atraentes; (</a:t>
            </a:r>
            <a:r>
              <a:rPr lang="pt-BR" dirty="0" err="1"/>
              <a:t>iv</a:t>
            </a:r>
            <a:r>
              <a:rPr lang="pt-BR" dirty="0"/>
              <a:t>) Nomes com boas perspectivas de crescimento.</a:t>
            </a:r>
          </a:p>
          <a:p>
            <a:r>
              <a:rPr lang="pt-BR" b="1" dirty="0"/>
              <a:t xml:space="preserve">Desempenho. </a:t>
            </a:r>
            <a:r>
              <a:rPr lang="pt-BR" dirty="0"/>
              <a:t>Em agosto, a carteira teve retorno de -0,4%, vs. -0,3% do Ibovespa.</a:t>
            </a:r>
          </a:p>
        </p:txBody>
      </p:sp>
      <p:sp>
        <p:nvSpPr>
          <p:cNvPr id="6" name="Content Placeholder 9">
            <a:extLst>
              <a:ext uri="{FF2B5EF4-FFF2-40B4-BE49-F238E27FC236}">
                <a16:creationId xmlns:a16="http://schemas.microsoft.com/office/drawing/2014/main" id="{2548F922-1FCA-B94D-0449-3CF88356127E}"/>
              </a:ext>
            </a:extLst>
          </p:cNvPr>
          <p:cNvSpPr txBox="1">
            <a:spLocks/>
          </p:cNvSpPr>
          <p:nvPr/>
        </p:nvSpPr>
        <p:spPr>
          <a:xfrm>
            <a:off x="10013464" y="2691428"/>
            <a:ext cx="1914195" cy="184666"/>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solidFill>
                  <a:schemeClr val="bg2">
                    <a:lumMod val="25000"/>
                  </a:schemeClr>
                </a:solidFill>
                <a:cs typeface="Roboto Medium" panose="02000000000000000000" pitchFamily="2" charset="0"/>
              </a:rPr>
              <a:t>Caio Souza</a:t>
            </a:r>
          </a:p>
        </p:txBody>
      </p:sp>
      <p:sp>
        <p:nvSpPr>
          <p:cNvPr id="9" name="Content Placeholder 10">
            <a:extLst>
              <a:ext uri="{FF2B5EF4-FFF2-40B4-BE49-F238E27FC236}">
                <a16:creationId xmlns:a16="http://schemas.microsoft.com/office/drawing/2014/main" id="{3DC792D3-B76C-571E-F081-9BAF32E442CE}"/>
              </a:ext>
            </a:extLst>
          </p:cNvPr>
          <p:cNvSpPr txBox="1">
            <a:spLocks/>
          </p:cNvSpPr>
          <p:nvPr/>
        </p:nvSpPr>
        <p:spPr>
          <a:xfrm>
            <a:off x="10013464" y="2897744"/>
            <a:ext cx="1914195" cy="307777"/>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a:cs typeface="Roboto Medium" panose="02000000000000000000" pitchFamily="2" charset="0"/>
              </a:rPr>
              <a:t>Estrategista de Ações</a:t>
            </a:r>
          </a:p>
          <a:p>
            <a:endParaRPr lang="en-US" dirty="0"/>
          </a:p>
        </p:txBody>
      </p:sp>
      <p:graphicFrame>
        <p:nvGraphicFramePr>
          <p:cNvPr id="2" name="Table 1">
            <a:extLst>
              <a:ext uri="{FF2B5EF4-FFF2-40B4-BE49-F238E27FC236}">
                <a16:creationId xmlns:a16="http://schemas.microsoft.com/office/drawing/2014/main" id="{73F130B6-1A99-F9AF-C584-1AEEF9CFAE2C}"/>
              </a:ext>
            </a:extLst>
          </p:cNvPr>
          <p:cNvGraphicFramePr>
            <a:graphicFrameLocks noGrp="1"/>
          </p:cNvGraphicFramePr>
          <p:nvPr>
            <p:extLst>
              <p:ext uri="{D42A27DB-BD31-4B8C-83A1-F6EECF244321}">
                <p14:modId xmlns:p14="http://schemas.microsoft.com/office/powerpoint/2010/main" val="2092422441"/>
              </p:ext>
            </p:extLst>
          </p:nvPr>
        </p:nvGraphicFramePr>
        <p:xfrm>
          <a:off x="335997" y="3839197"/>
          <a:ext cx="9467995" cy="2406673"/>
        </p:xfrm>
        <a:graphic>
          <a:graphicData uri="http://schemas.openxmlformats.org/drawingml/2006/table">
            <a:tbl>
              <a:tblPr/>
              <a:tblGrid>
                <a:gridCol w="952680">
                  <a:extLst>
                    <a:ext uri="{9D8B030D-6E8A-4147-A177-3AD203B41FA5}">
                      <a16:colId xmlns:a16="http://schemas.microsoft.com/office/drawing/2014/main" val="2928189665"/>
                    </a:ext>
                  </a:extLst>
                </a:gridCol>
                <a:gridCol w="1140864">
                  <a:extLst>
                    <a:ext uri="{9D8B030D-6E8A-4147-A177-3AD203B41FA5}">
                      <a16:colId xmlns:a16="http://schemas.microsoft.com/office/drawing/2014/main" val="338603255"/>
                    </a:ext>
                  </a:extLst>
                </a:gridCol>
                <a:gridCol w="1399617">
                  <a:extLst>
                    <a:ext uri="{9D8B030D-6E8A-4147-A177-3AD203B41FA5}">
                      <a16:colId xmlns:a16="http://schemas.microsoft.com/office/drawing/2014/main" val="1397579802"/>
                    </a:ext>
                  </a:extLst>
                </a:gridCol>
                <a:gridCol w="1528993">
                  <a:extLst>
                    <a:ext uri="{9D8B030D-6E8A-4147-A177-3AD203B41FA5}">
                      <a16:colId xmlns:a16="http://schemas.microsoft.com/office/drawing/2014/main" val="1047335340"/>
                    </a:ext>
                  </a:extLst>
                </a:gridCol>
                <a:gridCol w="1587801">
                  <a:extLst>
                    <a:ext uri="{9D8B030D-6E8A-4147-A177-3AD203B41FA5}">
                      <a16:colId xmlns:a16="http://schemas.microsoft.com/office/drawing/2014/main" val="1054907167"/>
                    </a:ext>
                  </a:extLst>
                </a:gridCol>
                <a:gridCol w="635120">
                  <a:extLst>
                    <a:ext uri="{9D8B030D-6E8A-4147-A177-3AD203B41FA5}">
                      <a16:colId xmlns:a16="http://schemas.microsoft.com/office/drawing/2014/main" val="2435128243"/>
                    </a:ext>
                  </a:extLst>
                </a:gridCol>
                <a:gridCol w="635120">
                  <a:extLst>
                    <a:ext uri="{9D8B030D-6E8A-4147-A177-3AD203B41FA5}">
                      <a16:colId xmlns:a16="http://schemas.microsoft.com/office/drawing/2014/main" val="1477894421"/>
                    </a:ext>
                  </a:extLst>
                </a:gridCol>
                <a:gridCol w="635120">
                  <a:extLst>
                    <a:ext uri="{9D8B030D-6E8A-4147-A177-3AD203B41FA5}">
                      <a16:colId xmlns:a16="http://schemas.microsoft.com/office/drawing/2014/main" val="290589835"/>
                    </a:ext>
                  </a:extLst>
                </a:gridCol>
                <a:gridCol w="952680">
                  <a:extLst>
                    <a:ext uri="{9D8B030D-6E8A-4147-A177-3AD203B41FA5}">
                      <a16:colId xmlns:a16="http://schemas.microsoft.com/office/drawing/2014/main" val="4180611162"/>
                    </a:ext>
                  </a:extLst>
                </a:gridCol>
              </a:tblGrid>
              <a:tr h="105809">
                <a:tc>
                  <a:txBody>
                    <a:bodyPr/>
                    <a:lstStyle/>
                    <a:p>
                      <a:pPr algn="ctr" fontAlgn="ctr">
                        <a:buNone/>
                      </a:pPr>
                      <a:r>
                        <a:rPr lang="pt-BR" sz="900" b="1" i="0" u="none" strike="noStrike" dirty="0">
                          <a:solidFill>
                            <a:srgbClr val="000000"/>
                          </a:solidFill>
                          <a:effectLst/>
                          <a:latin typeface="Roboto Light" panose="02000000000000000000" pitchFamily="2" charset="0"/>
                        </a:rPr>
                        <a:t>Segmento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Light" panose="02000000000000000000" pitchFamily="2" charset="0"/>
                        </a:rPr>
                        <a:t>Setor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Peso do setor (Ibovespa)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Light" panose="02000000000000000000" pitchFamily="2" charset="0"/>
                        </a:rPr>
                        <a:t>Peso do setor (Carteira)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Light" panose="02000000000000000000" pitchFamily="2" charset="0"/>
                        </a:rPr>
                        <a:t>Companhia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Ticker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Peso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Rating</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Preço-Alvo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extLst>
                  <a:ext uri="{0D108BD9-81ED-4DB2-BD59-A6C34878D82A}">
                    <a16:rowId xmlns:a16="http://schemas.microsoft.com/office/drawing/2014/main" val="336004580"/>
                  </a:ext>
                </a:extLst>
              </a:tr>
              <a:tr h="105809">
                <a:tc rowSpan="4">
                  <a:txBody>
                    <a:bodyPr/>
                    <a:lstStyle/>
                    <a:p>
                      <a:pPr algn="ctr" fontAlgn="ctr">
                        <a:buNone/>
                      </a:pPr>
                      <a:r>
                        <a:rPr lang="pt-BR" sz="9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18,1%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Petrobras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PETR4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R$ 63,00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642837966"/>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18,1%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PRIO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PRIO3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R$ 78,00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727095152"/>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Materiais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15,8%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Gerdau</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GGBR4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R$ 30,00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012407604"/>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Materiais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15,8%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Vale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VALE3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Neutro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R$ 85,00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891270684"/>
                  </a:ext>
                </a:extLst>
              </a:tr>
              <a:tr h="105809">
                <a:tc rowSpan="4">
                  <a:txBody>
                    <a:bodyPr/>
                    <a:lstStyle/>
                    <a:p>
                      <a:pPr algn="ctr" fontAlgn="ctr">
                        <a:buNone/>
                      </a:pPr>
                      <a:r>
                        <a:rPr lang="pt-BR" sz="9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Bens 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8,8%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Embraer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EMBJ3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R$ 87,00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916820979"/>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Tec. Info.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0,8%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TOTVS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TOTS3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R$ 50,50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904574126"/>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Iguatemi</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IGTI11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R$ 35,00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996924749"/>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Cury</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CURY3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R$ 45,00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753267940"/>
                  </a:ext>
                </a:extLst>
              </a:tr>
              <a:tr h="105809">
                <a:tc rowSpan="3">
                  <a:txBody>
                    <a:bodyPr/>
                    <a:lstStyle/>
                    <a:p>
                      <a:pPr algn="ctr" fontAlgn="ctr">
                        <a:buNone/>
                      </a:pPr>
                      <a:r>
                        <a:rPr lang="pt-BR" sz="900" b="0" i="0" u="none" strike="noStrike" dirty="0">
                          <a:solidFill>
                            <a:srgbClr val="000000"/>
                          </a:solidFill>
                          <a:effectLst/>
                          <a:latin typeface="Roboto Light" panose="02000000000000000000" pitchFamily="2" charset="0"/>
                        </a:rPr>
                        <a:t>Defensivas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Saúde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2,3%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Rede D'Or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RDOR3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R$ 45,00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579477771"/>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Defensivas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17,6%</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Axia 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AXIA3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R$ 63,32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99949912"/>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Defensivas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17,6%</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Sabesp</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SBSP3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R$ 38,25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44213667"/>
                  </a:ext>
                </a:extLst>
              </a:tr>
              <a:tr h="105809">
                <a:tc rowSpan="3">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900" b="0" i="0" u="none" strike="noStrike" dirty="0">
                          <a:solidFill>
                            <a:srgbClr val="000000"/>
                          </a:solidFill>
                          <a:effectLst/>
                          <a:latin typeface="Roboto Light" panose="02000000000000000000" pitchFamily="2" charset="0"/>
                        </a:rPr>
                        <a:t>26,7%</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900" b="0" i="0" u="none" strike="noStrike" dirty="0">
                          <a:solidFill>
                            <a:srgbClr val="000000"/>
                          </a:solidFill>
                          <a:effectLst/>
                          <a:latin typeface="Roboto Light" panose="02000000000000000000" pitchFamily="2" charset="0"/>
                        </a:rPr>
                        <a:t>17,5%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Itaú Unibanco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ITUB4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R$ 50,00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685115197"/>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26,7%</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BTG Pactual</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BPAC11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R$ 63,00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293465151"/>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26,7%</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Nubank</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ROXO34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R$ 18,60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456833191"/>
                  </a:ext>
                </a:extLst>
              </a:tr>
            </a:tbl>
          </a:graphicData>
        </a:graphic>
      </p:graphicFrame>
    </p:spTree>
    <p:extLst>
      <p:ext uri="{BB962C8B-B14F-4D97-AF65-F5344CB8AC3E}">
        <p14:creationId xmlns:p14="http://schemas.microsoft.com/office/powerpoint/2010/main" val="1746617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1F2E3B-5CB4-4876-9A9D-2E97C1D73457}"/>
              </a:ext>
            </a:extLst>
          </p:cNvPr>
          <p:cNvSpPr>
            <a:spLocks noGrp="1"/>
          </p:cNvSpPr>
          <p:nvPr>
            <p:ph type="body" sz="quarter" idx="18"/>
          </p:nvPr>
        </p:nvSpPr>
        <p:spPr/>
        <p:txBody>
          <a:bodyPr/>
          <a:lstStyle/>
          <a:p>
            <a:r>
              <a:rPr lang="pt-BR" dirty="0"/>
              <a:t>Fonte: XP </a:t>
            </a:r>
            <a:r>
              <a:rPr lang="pt-BR" dirty="0" err="1"/>
              <a:t>Research</a:t>
            </a:r>
            <a:r>
              <a:rPr lang="pt-BR" dirty="0"/>
              <a:t>. /  Sempre consulte seu assessor de investimentos</a:t>
            </a:r>
            <a:endParaRPr lang="en-US" dirty="0"/>
          </a:p>
        </p:txBody>
      </p:sp>
      <p:sp>
        <p:nvSpPr>
          <p:cNvPr id="4" name="Text Placeholder 3">
            <a:extLst>
              <a:ext uri="{FF2B5EF4-FFF2-40B4-BE49-F238E27FC236}">
                <a16:creationId xmlns:a16="http://schemas.microsoft.com/office/drawing/2014/main" id="{0E873E02-4DFC-4684-A7B1-0ACA827741DD}"/>
              </a:ext>
            </a:extLst>
          </p:cNvPr>
          <p:cNvSpPr>
            <a:spLocks noGrp="1"/>
          </p:cNvSpPr>
          <p:nvPr>
            <p:ph type="body" sz="quarter" idx="24"/>
          </p:nvPr>
        </p:nvSpPr>
        <p:spPr>
          <a:xfrm>
            <a:off x="336001" y="1288975"/>
            <a:ext cx="11518900" cy="2027101"/>
          </a:xfrm>
        </p:spPr>
        <p:txBody>
          <a:bodyPr anchor="ctr"/>
          <a:lstStyle/>
          <a:p>
            <a:r>
              <a:rPr lang="pt-BR" sz="1100" b="1" dirty="0"/>
              <a:t>Estamos adicionando AXIA3 com 7,5%.</a:t>
            </a:r>
            <a:r>
              <a:rPr lang="pt-BR" sz="1100" dirty="0"/>
              <a:t xml:space="preserve"> A forte visibilidade da companhia entre os estrangeiros e um potencial aumento na alocação em Brasil podem dar suporte às ações. À frente, o El Niño pode elevar os riscos de ondas de calor e a volatilidade da geração eólica, sustentando os preços de energia no 4T26. </a:t>
            </a:r>
            <a:r>
              <a:rPr lang="pt-BR" sz="1100" b="1" dirty="0"/>
              <a:t xml:space="preserve">Estamos adicionando CURY3 com 5%, </a:t>
            </a:r>
            <a:r>
              <a:rPr lang="pt-BR" sz="1100" dirty="0"/>
              <a:t xml:space="preserve">nossa principal escolha entre as construtoras de baixa renda. A tese segue apoiada por execução consistente, elevada rentabilidade, forte geração de caixa e perfil atrativo de dividendos. </a:t>
            </a:r>
            <a:r>
              <a:rPr lang="pt-BR" sz="1100" b="1" dirty="0"/>
              <a:t>Estamos aumentando nossa exposição a RDOR3 de 7,5% para 10%</a:t>
            </a:r>
            <a:r>
              <a:rPr lang="pt-BR" sz="1100" dirty="0"/>
              <a:t xml:space="preserve">, líder de mercado com posicionamento forte em hospitais e em planos de saúde, o que sustenta ganhos contínuos de participação de mercado. </a:t>
            </a:r>
            <a:r>
              <a:rPr lang="pt-BR" sz="1100" b="1" dirty="0"/>
              <a:t>Estamos reduzindo o peso de ITUB4 de 10,0% para 7,5% e ROXO34 de 7,5% para 5,0%</a:t>
            </a:r>
            <a:r>
              <a:rPr lang="pt-BR" sz="1100" dirty="0"/>
              <a:t xml:space="preserve">, diante de um cenário macroeconômico e de crédito mais desafiador. </a:t>
            </a:r>
            <a:r>
              <a:rPr lang="pt-BR" sz="1100" b="1" dirty="0"/>
              <a:t>Estamos retirando ORVR3 (de 5%).</a:t>
            </a:r>
            <a:r>
              <a:rPr lang="pt-BR" sz="1100" dirty="0"/>
              <a:t xml:space="preserve"> Seguimos construtivos no longo prazo, mas as incertezas de curto prazo devem continuar pressionando os próximos resultados. </a:t>
            </a:r>
            <a:r>
              <a:rPr lang="pt-BR" sz="1100" b="1" dirty="0"/>
              <a:t>Estamos zerando nossa posição em LREN3.</a:t>
            </a:r>
            <a:r>
              <a:rPr lang="pt-BR" sz="1100" dirty="0"/>
              <a:t xml:space="preserve"> Entre os riscos, destacamos a revogação definitiva da taxação das encomendas internacionais de baixo valor, um cenário macroeconômico ainda desafiador e um 3T pressionado.</a:t>
            </a:r>
            <a:endParaRPr lang="pt-BR" sz="800" dirty="0"/>
          </a:p>
        </p:txBody>
      </p:sp>
      <p:sp>
        <p:nvSpPr>
          <p:cNvPr id="6" name="Text Placeholder 5">
            <a:extLst>
              <a:ext uri="{FF2B5EF4-FFF2-40B4-BE49-F238E27FC236}">
                <a16:creationId xmlns:a16="http://schemas.microsoft.com/office/drawing/2014/main" id="{49500B37-A2A4-4707-B6A1-04E221FED814}"/>
              </a:ext>
            </a:extLst>
          </p:cNvPr>
          <p:cNvSpPr>
            <a:spLocks noGrp="1"/>
          </p:cNvSpPr>
          <p:nvPr>
            <p:ph type="body" sz="quarter" idx="16"/>
          </p:nvPr>
        </p:nvSpPr>
        <p:spPr/>
        <p:txBody>
          <a:bodyPr/>
          <a:lstStyle/>
          <a:p>
            <a:r>
              <a:rPr lang="pt-BR" dirty="0"/>
              <a:t>Comentário da carteira</a:t>
            </a:r>
            <a:endParaRPr lang="en-US" dirty="0"/>
          </a:p>
        </p:txBody>
      </p:sp>
      <p:sp>
        <p:nvSpPr>
          <p:cNvPr id="7" name="Text Placeholder 11">
            <a:extLst>
              <a:ext uri="{FF2B5EF4-FFF2-40B4-BE49-F238E27FC236}">
                <a16:creationId xmlns:a16="http://schemas.microsoft.com/office/drawing/2014/main" id="{714FDD09-8B65-6219-3820-1A4112A02F4C}"/>
              </a:ext>
            </a:extLst>
          </p:cNvPr>
          <p:cNvSpPr>
            <a:spLocks noGrp="1"/>
          </p:cNvSpPr>
          <p:nvPr>
            <p:ph type="body" sz="quarter" idx="17"/>
          </p:nvPr>
        </p:nvSpPr>
        <p:spPr/>
        <p:txBody>
          <a:bodyPr vert="horz" lIns="0" tIns="45720" rIns="91440" bIns="45720" rtlCol="0" anchor="t">
            <a:noAutofit/>
          </a:bodyPr>
          <a:lstStyle/>
          <a:p>
            <a:r>
              <a:rPr lang="pt-BR" sz="1600" dirty="0"/>
              <a:t>Adicionando CURY3 e AXIA3; aumentando RDOR3; removendo LREN3 e ORVR3; reduzindo ITUB4 e ROXO34</a:t>
            </a:r>
          </a:p>
        </p:txBody>
      </p:sp>
      <p:sp>
        <p:nvSpPr>
          <p:cNvPr id="3" name="Espaço Reservado para Data 5">
            <a:extLst>
              <a:ext uri="{FF2B5EF4-FFF2-40B4-BE49-F238E27FC236}">
                <a16:creationId xmlns:a16="http://schemas.microsoft.com/office/drawing/2014/main" id="{DB09EAE8-D8F7-A1EF-A0F1-A5F8659323EC}"/>
              </a:ext>
            </a:extLst>
          </p:cNvPr>
          <p:cNvSpPr>
            <a:spLocks noGrp="1"/>
          </p:cNvSpPr>
          <p:nvPr>
            <p:ph type="dt" sz="half" idx="2"/>
          </p:nvPr>
        </p:nvSpPr>
        <p:spPr>
          <a:xfrm>
            <a:off x="8723310" y="305162"/>
            <a:ext cx="3132139" cy="210546"/>
          </a:xfrm>
        </p:spPr>
        <p:txBody>
          <a:bodyPr/>
          <a:lstStyle/>
          <a:p>
            <a:fld id="{A6844A8F-C80F-444C-AD01-359786A22A4E}" type="datetime4">
              <a:rPr lang="pt-BR" sz="1100" smtClean="0"/>
              <a:pPr/>
              <a:t>1 de setembro de 2026</a:t>
            </a:fld>
            <a:endParaRPr lang="en-US" sz="1100" dirty="0"/>
          </a:p>
        </p:txBody>
      </p:sp>
    </p:spTree>
    <p:extLst>
      <p:ext uri="{BB962C8B-B14F-4D97-AF65-F5344CB8AC3E}">
        <p14:creationId xmlns:p14="http://schemas.microsoft.com/office/powerpoint/2010/main" val="2578583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D947090A-2FFE-4228-A491-829644B90809}"/>
              </a:ext>
            </a:extLst>
          </p:cNvPr>
          <p:cNvSpPr>
            <a:spLocks noGrp="1"/>
          </p:cNvSpPr>
          <p:nvPr>
            <p:ph type="body" sz="quarter" idx="16"/>
          </p:nvPr>
        </p:nvSpPr>
        <p:spPr/>
        <p:txBody>
          <a:bodyPr/>
          <a:lstStyle/>
          <a:p>
            <a:r>
              <a:rPr lang="pt-BR" dirty="0"/>
              <a:t>Desempenho</a:t>
            </a:r>
          </a:p>
        </p:txBody>
      </p:sp>
      <p:sp>
        <p:nvSpPr>
          <p:cNvPr id="6" name="Espaço Reservado para Data 5">
            <a:extLst>
              <a:ext uri="{FF2B5EF4-FFF2-40B4-BE49-F238E27FC236}">
                <a16:creationId xmlns:a16="http://schemas.microsoft.com/office/drawing/2014/main" id="{609C8695-3CC8-4A82-B06E-C9E5C28A3DB0}"/>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sp>
        <p:nvSpPr>
          <p:cNvPr id="21" name="Espaço Reservado para Conteúdo 6">
            <a:extLst>
              <a:ext uri="{FF2B5EF4-FFF2-40B4-BE49-F238E27FC236}">
                <a16:creationId xmlns:a16="http://schemas.microsoft.com/office/drawing/2014/main" id="{18F26912-C598-8ECF-A3BC-B407E871BFD5}"/>
              </a:ext>
            </a:extLst>
          </p:cNvPr>
          <p:cNvSpPr txBox="1">
            <a:spLocks/>
          </p:cNvSpPr>
          <p:nvPr/>
        </p:nvSpPr>
        <p:spPr>
          <a:xfrm>
            <a:off x="324164" y="2112844"/>
            <a:ext cx="675357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2: Desempenho de cada ativo</a:t>
            </a:r>
          </a:p>
        </p:txBody>
      </p:sp>
      <p:sp>
        <p:nvSpPr>
          <p:cNvPr id="22" name="Espaço Reservado para Conteúdo 7">
            <a:extLst>
              <a:ext uri="{FF2B5EF4-FFF2-40B4-BE49-F238E27FC236}">
                <a16:creationId xmlns:a16="http://schemas.microsoft.com/office/drawing/2014/main" id="{2BBAB580-05A5-DA23-128D-DF9545D61122}"/>
              </a:ext>
            </a:extLst>
          </p:cNvPr>
          <p:cNvSpPr txBox="1">
            <a:spLocks/>
          </p:cNvSpPr>
          <p:nvPr/>
        </p:nvSpPr>
        <p:spPr>
          <a:xfrm>
            <a:off x="324164" y="4765591"/>
            <a:ext cx="6765405"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4: Indicadores de desempenho desde o início da carteira</a:t>
            </a:r>
          </a:p>
        </p:txBody>
      </p:sp>
      <p:sp>
        <p:nvSpPr>
          <p:cNvPr id="23" name="Espaço Reservado para Conteúdo 9">
            <a:extLst>
              <a:ext uri="{FF2B5EF4-FFF2-40B4-BE49-F238E27FC236}">
                <a16:creationId xmlns:a16="http://schemas.microsoft.com/office/drawing/2014/main" id="{A87056D7-3108-F4B5-9F54-B8A3B4551E4D}"/>
              </a:ext>
            </a:extLst>
          </p:cNvPr>
          <p:cNvSpPr txBox="1">
            <a:spLocks/>
          </p:cNvSpPr>
          <p:nvPr/>
        </p:nvSpPr>
        <p:spPr>
          <a:xfrm>
            <a:off x="7209279" y="2075062"/>
            <a:ext cx="465855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3: Desempenho da Carteira Top Ações XP vs. Ibovespa (100 = 28 fev. 2025)</a:t>
            </a:r>
          </a:p>
        </p:txBody>
      </p:sp>
      <p:sp>
        <p:nvSpPr>
          <p:cNvPr id="25" name="Espaço Reservado para Conteúdo 2">
            <a:extLst>
              <a:ext uri="{FF2B5EF4-FFF2-40B4-BE49-F238E27FC236}">
                <a16:creationId xmlns:a16="http://schemas.microsoft.com/office/drawing/2014/main" id="{D0FEFDFD-8589-5C1D-ADC4-480694564D3D}"/>
              </a:ext>
            </a:extLst>
          </p:cNvPr>
          <p:cNvSpPr txBox="1">
            <a:spLocks/>
          </p:cNvSpPr>
          <p:nvPr/>
        </p:nvSpPr>
        <p:spPr>
          <a:xfrm>
            <a:off x="336000" y="782702"/>
            <a:ext cx="11518899"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1: Desempenho da Carteira Top Ações XP vs. Ibovespa</a:t>
            </a:r>
          </a:p>
        </p:txBody>
      </p:sp>
      <p:graphicFrame>
        <p:nvGraphicFramePr>
          <p:cNvPr id="37" name="Table 36">
            <a:extLst>
              <a:ext uri="{FF2B5EF4-FFF2-40B4-BE49-F238E27FC236}">
                <a16:creationId xmlns:a16="http://schemas.microsoft.com/office/drawing/2014/main" id="{D7BE1AF0-EDCC-A8D8-B9E8-C08B2535AF9E}"/>
              </a:ext>
            </a:extLst>
          </p:cNvPr>
          <p:cNvGraphicFramePr>
            <a:graphicFrameLocks noGrp="1"/>
          </p:cNvGraphicFramePr>
          <p:nvPr>
            <p:extLst>
              <p:ext uri="{D42A27DB-BD31-4B8C-83A1-F6EECF244321}">
                <p14:modId xmlns:p14="http://schemas.microsoft.com/office/powerpoint/2010/main" val="3977372824"/>
              </p:ext>
            </p:extLst>
          </p:nvPr>
        </p:nvGraphicFramePr>
        <p:xfrm>
          <a:off x="335998" y="5057256"/>
          <a:ext cx="6765404" cy="736600"/>
        </p:xfrm>
        <a:graphic>
          <a:graphicData uri="http://schemas.openxmlformats.org/drawingml/2006/table">
            <a:tbl>
              <a:tblPr/>
              <a:tblGrid>
                <a:gridCol w="2762103">
                  <a:extLst>
                    <a:ext uri="{9D8B030D-6E8A-4147-A177-3AD203B41FA5}">
                      <a16:colId xmlns:a16="http://schemas.microsoft.com/office/drawing/2014/main" val="3874460595"/>
                    </a:ext>
                  </a:extLst>
                </a:gridCol>
                <a:gridCol w="1538386">
                  <a:extLst>
                    <a:ext uri="{9D8B030D-6E8A-4147-A177-3AD203B41FA5}">
                      <a16:colId xmlns:a16="http://schemas.microsoft.com/office/drawing/2014/main" val="688580943"/>
                    </a:ext>
                  </a:extLst>
                </a:gridCol>
                <a:gridCol w="2464915">
                  <a:extLst>
                    <a:ext uri="{9D8B030D-6E8A-4147-A177-3AD203B41FA5}">
                      <a16:colId xmlns:a16="http://schemas.microsoft.com/office/drawing/2014/main" val="452379135"/>
                    </a:ext>
                  </a:extLst>
                </a:gridCol>
              </a:tblGrid>
              <a:tr h="184150">
                <a:tc>
                  <a:txBody>
                    <a:bodyPr/>
                    <a:lstStyle/>
                    <a:p>
                      <a:pPr algn="ctr" rtl="0" fontAlgn="ctr"/>
                      <a:r>
                        <a:rPr lang="en-US" sz="1000" b="1" i="0" u="none" strike="noStrike" dirty="0" err="1">
                          <a:solidFill>
                            <a:srgbClr val="000000"/>
                          </a:solidFill>
                          <a:effectLst/>
                          <a:latin typeface="+mj-lt"/>
                        </a:rPr>
                        <a:t>Indicador</a:t>
                      </a:r>
                      <a:r>
                        <a:rPr lang="en-US" sz="1000" b="1" i="0" u="none" strike="noStrike" dirty="0">
                          <a:solidFill>
                            <a:srgbClr val="000000"/>
                          </a:solidFill>
                          <a:effectLst/>
                          <a:latin typeface="+mj-lt"/>
                        </a:rPr>
                        <a:t> </a:t>
                      </a:r>
                    </a:p>
                  </a:txBody>
                  <a:tcPr marL="6350" marR="6350" marT="6350" marB="0" anchor="ctr">
                    <a:lnL>
                      <a:noFill/>
                    </a:lnL>
                    <a:lnR>
                      <a:noFill/>
                    </a:lnR>
                    <a:lnT>
                      <a:noFill/>
                    </a:lnT>
                    <a:lnB>
                      <a:noFill/>
                    </a:lnB>
                    <a:solidFill>
                      <a:srgbClr val="FFC000"/>
                    </a:solidFill>
                  </a:tcPr>
                </a:tc>
                <a:tc>
                  <a:txBody>
                    <a:bodyPr/>
                    <a:lstStyle/>
                    <a:p>
                      <a:pPr algn="ctr" rtl="0" fontAlgn="ctr"/>
                      <a:r>
                        <a:rPr lang="en-US" sz="1000" b="1" i="0" u="none" strike="noStrike" dirty="0">
                          <a:solidFill>
                            <a:srgbClr val="000000"/>
                          </a:solidFill>
                          <a:effectLst/>
                          <a:latin typeface="+mj-lt"/>
                        </a:rPr>
                        <a:t>Top </a:t>
                      </a:r>
                      <a:r>
                        <a:rPr lang="en-US" sz="1000" b="1" i="0" u="none" strike="noStrike" dirty="0" err="1">
                          <a:solidFill>
                            <a:srgbClr val="000000"/>
                          </a:solidFill>
                          <a:effectLst/>
                          <a:latin typeface="+mj-lt"/>
                        </a:rPr>
                        <a:t>Ações</a:t>
                      </a:r>
                      <a:r>
                        <a:rPr lang="en-US" sz="1000" b="1" i="0" u="none" strike="noStrike" dirty="0">
                          <a:solidFill>
                            <a:srgbClr val="000000"/>
                          </a:solidFill>
                          <a:effectLst/>
                          <a:latin typeface="+mj-lt"/>
                        </a:rPr>
                        <a:t> XP </a:t>
                      </a:r>
                    </a:p>
                  </a:txBody>
                  <a:tcPr marL="6350" marR="6350" marT="6350" marB="0" anchor="ctr">
                    <a:lnL>
                      <a:noFill/>
                    </a:lnL>
                    <a:lnR>
                      <a:noFill/>
                    </a:lnR>
                    <a:lnT>
                      <a:noFill/>
                    </a:lnT>
                    <a:lnB>
                      <a:noFill/>
                    </a:lnB>
                    <a:solidFill>
                      <a:srgbClr val="FFC000"/>
                    </a:solidFill>
                  </a:tcPr>
                </a:tc>
                <a:tc>
                  <a:txBody>
                    <a:bodyPr/>
                    <a:lstStyle/>
                    <a:p>
                      <a:pPr algn="ctr" rtl="0" fontAlgn="ctr"/>
                      <a:r>
                        <a:rPr lang="en-US" sz="1000" b="1" i="0" u="none" strike="noStrike" dirty="0">
                          <a:solidFill>
                            <a:srgbClr val="000000"/>
                          </a:solidFill>
                          <a:effectLst/>
                          <a:latin typeface="+mj-lt"/>
                        </a:rPr>
                        <a:t>Ibovespa </a:t>
                      </a:r>
                    </a:p>
                  </a:txBody>
                  <a:tcPr marL="6350" marR="6350" marT="6350" marB="0" anchor="ctr">
                    <a:lnL>
                      <a:noFill/>
                    </a:lnL>
                    <a:lnR>
                      <a:noFill/>
                    </a:lnR>
                    <a:lnT>
                      <a:noFill/>
                    </a:lnT>
                    <a:lnB>
                      <a:noFill/>
                    </a:lnB>
                    <a:solidFill>
                      <a:srgbClr val="FFC000"/>
                    </a:solidFill>
                  </a:tcPr>
                </a:tc>
                <a:extLst>
                  <a:ext uri="{0D108BD9-81ED-4DB2-BD59-A6C34878D82A}">
                    <a16:rowId xmlns:a16="http://schemas.microsoft.com/office/drawing/2014/main" val="3301384748"/>
                  </a:ext>
                </a:extLst>
              </a:tr>
              <a:tr h="184150">
                <a:tc>
                  <a:txBody>
                    <a:bodyPr/>
                    <a:lstStyle/>
                    <a:p>
                      <a:pPr algn="l" rtl="0" fontAlgn="b"/>
                      <a:r>
                        <a:rPr lang="en-US" sz="1000" b="0" i="0" u="none" strike="noStrike" dirty="0">
                          <a:solidFill>
                            <a:srgbClr val="000000"/>
                          </a:solidFill>
                          <a:effectLst/>
                          <a:latin typeface="+mj-lt"/>
                        </a:rPr>
                        <a:t>Sharpe </a:t>
                      </a:r>
                    </a:p>
                  </a:txBody>
                  <a:tcPr marL="6350" marR="6350" marT="635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0.41</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0.58</a:t>
                      </a:r>
                    </a:p>
                  </a:txBody>
                  <a:tcPr marL="7620" marR="7620" marT="7620" marB="0" anchor="b">
                    <a:lnL>
                      <a:noFill/>
                    </a:lnL>
                    <a:lnR>
                      <a:noFill/>
                    </a:lnR>
                    <a:lnT>
                      <a:noFill/>
                    </a:lnT>
                    <a:lnB>
                      <a:noFill/>
                    </a:lnB>
                  </a:tcPr>
                </a:tc>
                <a:extLst>
                  <a:ext uri="{0D108BD9-81ED-4DB2-BD59-A6C34878D82A}">
                    <a16:rowId xmlns:a16="http://schemas.microsoft.com/office/drawing/2014/main" val="3926316090"/>
                  </a:ext>
                </a:extLst>
              </a:tr>
              <a:tr h="184150">
                <a:tc>
                  <a:txBody>
                    <a:bodyPr/>
                    <a:lstStyle/>
                    <a:p>
                      <a:pPr algn="l" rtl="0" fontAlgn="b"/>
                      <a:r>
                        <a:rPr lang="en-US" sz="1000" b="0" i="0" u="none" strike="noStrike" dirty="0" err="1">
                          <a:solidFill>
                            <a:srgbClr val="000000"/>
                          </a:solidFill>
                          <a:effectLst/>
                          <a:latin typeface="+mj-lt"/>
                        </a:rPr>
                        <a:t>Volatilidade </a:t>
                      </a:r>
                    </a:p>
                  </a:txBody>
                  <a:tcPr marL="6350" marR="6350" marT="635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20.05%</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17.19%</a:t>
                      </a:r>
                    </a:p>
                  </a:txBody>
                  <a:tcPr marL="7620" marR="7620" marT="7620" marB="0" anchor="b">
                    <a:lnL>
                      <a:noFill/>
                    </a:lnL>
                    <a:lnR>
                      <a:noFill/>
                    </a:lnR>
                    <a:lnT>
                      <a:noFill/>
                    </a:lnT>
                    <a:lnB>
                      <a:noFill/>
                    </a:lnB>
                  </a:tcPr>
                </a:tc>
                <a:extLst>
                  <a:ext uri="{0D108BD9-81ED-4DB2-BD59-A6C34878D82A}">
                    <a16:rowId xmlns:a16="http://schemas.microsoft.com/office/drawing/2014/main" val="976243063"/>
                  </a:ext>
                </a:extLst>
              </a:tr>
              <a:tr h="184150">
                <a:tc>
                  <a:txBody>
                    <a:bodyPr/>
                    <a:lstStyle/>
                    <a:p>
                      <a:pPr algn="l" rtl="0" fontAlgn="b"/>
                      <a:r>
                        <a:rPr lang="en-US" sz="1000" b="0" i="0" u="none" strike="noStrike" dirty="0">
                          <a:solidFill>
                            <a:srgbClr val="000000"/>
                          </a:solidFill>
                          <a:effectLst/>
                          <a:latin typeface="+mj-lt"/>
                        </a:rPr>
                        <a:t>Beta </a:t>
                      </a:r>
                    </a:p>
                  </a:txBody>
                  <a:tcPr marL="6350" marR="6350" marT="6350" marB="0" anchor="b">
                    <a:lnL>
                      <a:noFill/>
                    </a:lnL>
                    <a:lnR>
                      <a:noFill/>
                    </a:lnR>
                    <a:lnT>
                      <a:noFill/>
                    </a:lnT>
                    <a:lnB w="6350" cap="flat" cmpd="sng" algn="ctr">
                      <a:solidFill>
                        <a:srgbClr val="A5A5A5"/>
                      </a:solid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1.11</a:t>
                      </a:r>
                    </a:p>
                  </a:txBody>
                  <a:tcPr marL="7620" marR="7620" marT="7620" marB="0" anchor="b">
                    <a:lnL>
                      <a:noFill/>
                    </a:lnL>
                    <a:lnR>
                      <a:noFill/>
                    </a:lnR>
                    <a:lnT>
                      <a:noFill/>
                    </a:lnT>
                    <a:lnB w="6350" cap="flat" cmpd="sng" algn="ctr">
                      <a:solidFill>
                        <a:srgbClr val="A5A5A5"/>
                      </a:solidFill>
                      <a:prstDash val="solid"/>
                      <a:round/>
                      <a:headEnd type="none" w="med" len="med"/>
                      <a:tailEnd type="none" w="med" len="med"/>
                    </a:lnB>
                  </a:tcPr>
                </a:tc>
                <a:tc>
                  <a:txBody>
                    <a:bodyPr/>
                    <a:lstStyle/>
                    <a:p>
                      <a:pPr algn="ctr" fontAlgn="b">
                        <a:buNone/>
                      </a:pPr>
                      <a:r>
                        <a:rPr lang="pt-BR" sz="1000" b="0" i="0" u="none" strike="noStrike" dirty="0">
                          <a:solidFill>
                            <a:srgbClr val="000000"/>
                          </a:solidFill>
                          <a:effectLst/>
                          <a:latin typeface="Roboto Light" panose="02000000000000000000" pitchFamily="2" charset="0"/>
                        </a:rPr>
                        <a:t>1.00</a:t>
                      </a:r>
                    </a:p>
                  </a:txBody>
                  <a:tcPr marL="7620" marR="7620" marT="7620" marB="0" anchor="b">
                    <a:lnL>
                      <a:noFill/>
                    </a:lnL>
                    <a:lnR>
                      <a:noFill/>
                    </a:lnR>
                    <a:lnT>
                      <a:noFill/>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1798386771"/>
                  </a:ext>
                </a:extLst>
              </a:tr>
            </a:tbl>
          </a:graphicData>
        </a:graphic>
      </p:graphicFrame>
      <p:sp>
        <p:nvSpPr>
          <p:cNvPr id="8" name="Text Placeholder 7">
            <a:extLst>
              <a:ext uri="{FF2B5EF4-FFF2-40B4-BE49-F238E27FC236}">
                <a16:creationId xmlns:a16="http://schemas.microsoft.com/office/drawing/2014/main" id="{74645618-EAE8-8CD3-F89F-76F0C2BC26E0}"/>
              </a:ext>
            </a:extLst>
          </p:cNvPr>
          <p:cNvSpPr>
            <a:spLocks noGrp="1"/>
          </p:cNvSpPr>
          <p:nvPr>
            <p:ph type="body" sz="quarter" idx="18"/>
          </p:nvPr>
        </p:nvSpPr>
        <p:spPr/>
        <p:txBody>
          <a:bodyPr/>
          <a:lstStyle/>
          <a:p>
            <a:r>
              <a:rPr lang="pt-BR" dirty="0"/>
              <a:t>Fonte: Economatica e XP Research. Retornos da carteira incluem dividendos. Dados até 31/08/2026. /  Sempre consulte seu assessor de Investimentos</a:t>
            </a:r>
            <a:endParaRPr lang="en-US" dirty="0"/>
          </a:p>
        </p:txBody>
      </p:sp>
      <p:graphicFrame>
        <p:nvGraphicFramePr>
          <p:cNvPr id="3" name="Table 2">
            <a:extLst>
              <a:ext uri="{FF2B5EF4-FFF2-40B4-BE49-F238E27FC236}">
                <a16:creationId xmlns:a16="http://schemas.microsoft.com/office/drawing/2014/main" id="{F40D1E03-E241-CCFD-CEE5-FCC2F52069BA}"/>
              </a:ext>
            </a:extLst>
          </p:cNvPr>
          <p:cNvGraphicFramePr>
            <a:graphicFrameLocks noGrp="1"/>
          </p:cNvGraphicFramePr>
          <p:nvPr>
            <p:extLst>
              <p:ext uri="{D42A27DB-BD31-4B8C-83A1-F6EECF244321}">
                <p14:modId xmlns:p14="http://schemas.microsoft.com/office/powerpoint/2010/main" val="916861385"/>
              </p:ext>
            </p:extLst>
          </p:nvPr>
        </p:nvGraphicFramePr>
        <p:xfrm>
          <a:off x="335998" y="1036062"/>
          <a:ext cx="11520001" cy="828000"/>
        </p:xfrm>
        <a:graphic>
          <a:graphicData uri="http://schemas.openxmlformats.org/drawingml/2006/table">
            <a:tbl>
              <a:tblPr/>
              <a:tblGrid>
                <a:gridCol w="1475691">
                  <a:extLst>
                    <a:ext uri="{9D8B030D-6E8A-4147-A177-3AD203B41FA5}">
                      <a16:colId xmlns:a16="http://schemas.microsoft.com/office/drawing/2014/main" val="1669897858"/>
                    </a:ext>
                  </a:extLst>
                </a:gridCol>
                <a:gridCol w="1547115">
                  <a:extLst>
                    <a:ext uri="{9D8B030D-6E8A-4147-A177-3AD203B41FA5}">
                      <a16:colId xmlns:a16="http://schemas.microsoft.com/office/drawing/2014/main" val="1107771524"/>
                    </a:ext>
                  </a:extLst>
                </a:gridCol>
                <a:gridCol w="618846">
                  <a:extLst>
                    <a:ext uri="{9D8B030D-6E8A-4147-A177-3AD203B41FA5}">
                      <a16:colId xmlns:a16="http://schemas.microsoft.com/office/drawing/2014/main" val="3422858841"/>
                    </a:ext>
                  </a:extLst>
                </a:gridCol>
                <a:gridCol w="737857">
                  <a:extLst>
                    <a:ext uri="{9D8B030D-6E8A-4147-A177-3AD203B41FA5}">
                      <a16:colId xmlns:a16="http://schemas.microsoft.com/office/drawing/2014/main" val="253133041"/>
                    </a:ext>
                  </a:extLst>
                </a:gridCol>
                <a:gridCol w="618846">
                  <a:extLst>
                    <a:ext uri="{9D8B030D-6E8A-4147-A177-3AD203B41FA5}">
                      <a16:colId xmlns:a16="http://schemas.microsoft.com/office/drawing/2014/main" val="1165078535"/>
                    </a:ext>
                  </a:extLst>
                </a:gridCol>
                <a:gridCol w="618846">
                  <a:extLst>
                    <a:ext uri="{9D8B030D-6E8A-4147-A177-3AD203B41FA5}">
                      <a16:colId xmlns:a16="http://schemas.microsoft.com/office/drawing/2014/main" val="369150759"/>
                    </a:ext>
                  </a:extLst>
                </a:gridCol>
                <a:gridCol w="618846">
                  <a:extLst>
                    <a:ext uri="{9D8B030D-6E8A-4147-A177-3AD203B41FA5}">
                      <a16:colId xmlns:a16="http://schemas.microsoft.com/office/drawing/2014/main" val="2061320242"/>
                    </a:ext>
                  </a:extLst>
                </a:gridCol>
                <a:gridCol w="618846">
                  <a:extLst>
                    <a:ext uri="{9D8B030D-6E8A-4147-A177-3AD203B41FA5}">
                      <a16:colId xmlns:a16="http://schemas.microsoft.com/office/drawing/2014/main" val="3456878777"/>
                    </a:ext>
                  </a:extLst>
                </a:gridCol>
                <a:gridCol w="618846">
                  <a:extLst>
                    <a:ext uri="{9D8B030D-6E8A-4147-A177-3AD203B41FA5}">
                      <a16:colId xmlns:a16="http://schemas.microsoft.com/office/drawing/2014/main" val="229323161"/>
                    </a:ext>
                  </a:extLst>
                </a:gridCol>
                <a:gridCol w="618846">
                  <a:extLst>
                    <a:ext uri="{9D8B030D-6E8A-4147-A177-3AD203B41FA5}">
                      <a16:colId xmlns:a16="http://schemas.microsoft.com/office/drawing/2014/main" val="1891611400"/>
                    </a:ext>
                  </a:extLst>
                </a:gridCol>
                <a:gridCol w="571236">
                  <a:extLst>
                    <a:ext uri="{9D8B030D-6E8A-4147-A177-3AD203B41FA5}">
                      <a16:colId xmlns:a16="http://schemas.microsoft.com/office/drawing/2014/main" val="2929646893"/>
                    </a:ext>
                  </a:extLst>
                </a:gridCol>
                <a:gridCol w="571236">
                  <a:extLst>
                    <a:ext uri="{9D8B030D-6E8A-4147-A177-3AD203B41FA5}">
                      <a16:colId xmlns:a16="http://schemas.microsoft.com/office/drawing/2014/main" val="2827602307"/>
                    </a:ext>
                  </a:extLst>
                </a:gridCol>
                <a:gridCol w="571236">
                  <a:extLst>
                    <a:ext uri="{9D8B030D-6E8A-4147-A177-3AD203B41FA5}">
                      <a16:colId xmlns:a16="http://schemas.microsoft.com/office/drawing/2014/main" val="1608511552"/>
                    </a:ext>
                  </a:extLst>
                </a:gridCol>
                <a:gridCol w="571236">
                  <a:extLst>
                    <a:ext uri="{9D8B030D-6E8A-4147-A177-3AD203B41FA5}">
                      <a16:colId xmlns:a16="http://schemas.microsoft.com/office/drawing/2014/main" val="1108199673"/>
                    </a:ext>
                  </a:extLst>
                </a:gridCol>
                <a:gridCol w="571236">
                  <a:extLst>
                    <a:ext uri="{9D8B030D-6E8A-4147-A177-3AD203B41FA5}">
                      <a16:colId xmlns:a16="http://schemas.microsoft.com/office/drawing/2014/main" val="2643704785"/>
                    </a:ext>
                  </a:extLst>
                </a:gridCol>
                <a:gridCol w="571236">
                  <a:extLst>
                    <a:ext uri="{9D8B030D-6E8A-4147-A177-3AD203B41FA5}">
                      <a16:colId xmlns:a16="http://schemas.microsoft.com/office/drawing/2014/main" val="1503423056"/>
                    </a:ext>
                  </a:extLst>
                </a:gridCol>
              </a:tblGrid>
              <a:tr h="260584">
                <a:tc>
                  <a:txBody>
                    <a:bodyPr/>
                    <a:lstStyle/>
                    <a:p>
                      <a:pPr algn="ctr" fontAlgn="b">
                        <a:buNone/>
                      </a:pPr>
                      <a:r>
                        <a:rPr lang="pt-BR" sz="900" b="1" i="0" u="none" strike="noStrike" dirty="0">
                          <a:solidFill>
                            <a:srgbClr val="000000"/>
                          </a:solidFill>
                          <a:effectLst/>
                          <a:latin typeface="Roboto Light" panose="02000000000000000000" pitchFamily="2" charset="0"/>
                        </a:rPr>
                        <a:t> </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dirty="0">
                          <a:solidFill>
                            <a:srgbClr val="000000"/>
                          </a:solidFill>
                          <a:effectLst/>
                          <a:latin typeface="Roboto Light" panose="02000000000000000000" pitchFamily="2" charset="0"/>
                        </a:rPr>
                        <a:t>Desde o início</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2026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Últ. 12M</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ago-26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jul-26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jun-26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mai-26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abr-26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mar-26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fev-26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jan-26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dez-25</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nov-25</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out-25</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set-25</a:t>
                      </a:r>
                    </a:p>
                  </a:txBody>
                  <a:tcPr marL="6518" marR="6518" marT="6518" marB="0" anchor="ctr">
                    <a:lnL>
                      <a:noFill/>
                    </a:lnL>
                    <a:lnR>
                      <a:noFill/>
                    </a:lnR>
                    <a:lnT>
                      <a:noFill/>
                    </a:lnT>
                    <a:lnB>
                      <a:noFill/>
                    </a:lnB>
                    <a:solidFill>
                      <a:srgbClr val="FFC000"/>
                    </a:solidFill>
                  </a:tcPr>
                </a:tc>
                <a:extLst>
                  <a:ext uri="{0D108BD9-81ED-4DB2-BD59-A6C34878D82A}">
                    <a16:rowId xmlns:a16="http://schemas.microsoft.com/office/drawing/2014/main" val="4057590156"/>
                  </a:ext>
                </a:extLst>
              </a:tr>
              <a:tr h="283708">
                <a:tc>
                  <a:txBody>
                    <a:bodyPr/>
                    <a:lstStyle/>
                    <a:p>
                      <a:pPr algn="ctr" fontAlgn="b">
                        <a:buNone/>
                      </a:pPr>
                      <a:r>
                        <a:rPr lang="pt-BR" sz="900" b="0" i="0" u="none" strike="noStrike">
                          <a:solidFill>
                            <a:srgbClr val="000000"/>
                          </a:solidFill>
                          <a:effectLst/>
                          <a:latin typeface="Roboto Light" panose="02000000000000000000" pitchFamily="2" charset="0"/>
                        </a:rPr>
                        <a:t>Top Ações XP</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36.3%</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7.7%</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22.8%</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-0.4%</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2.2%</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-1.7%</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-6.7%</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-0.6%</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0.6%</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2.7%</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12.3%</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0.7%</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6.9%</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1.8%</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4.1%</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1667511739"/>
                  </a:ext>
                </a:extLst>
              </a:tr>
              <a:tr h="283708">
                <a:tc>
                  <a:txBody>
                    <a:bodyPr/>
                    <a:lstStyle/>
                    <a:p>
                      <a:pPr algn="ctr" fontAlgn="b">
                        <a:buNone/>
                      </a:pPr>
                      <a:r>
                        <a:rPr lang="pt-BR" sz="900" b="0" i="0" u="none" strike="noStrike">
                          <a:solidFill>
                            <a:srgbClr val="000000"/>
                          </a:solidFill>
                          <a:effectLst/>
                          <a:latin typeface="Roboto Light" panose="02000000000000000000" pitchFamily="2" charset="0"/>
                        </a:rPr>
                        <a:t>Ibovespa</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44.5%</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10.1%</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25.5%</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-0.3%</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3.5%</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-7.2%</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-0.1%</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-0.7%</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4.1%</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12.6%</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1.3%</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6.4%</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2.3%</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3.4%</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411450042"/>
                  </a:ext>
                </a:extLst>
              </a:tr>
            </a:tbl>
          </a:graphicData>
        </a:graphic>
      </p:graphicFrame>
      <p:graphicFrame>
        <p:nvGraphicFramePr>
          <p:cNvPr id="7" name="Table 6">
            <a:extLst>
              <a:ext uri="{FF2B5EF4-FFF2-40B4-BE49-F238E27FC236}">
                <a16:creationId xmlns:a16="http://schemas.microsoft.com/office/drawing/2014/main" id="{D645BE80-1CEC-57E8-1A95-EFB6B95186C9}"/>
              </a:ext>
            </a:extLst>
          </p:cNvPr>
          <p:cNvGraphicFramePr>
            <a:graphicFrameLocks noGrp="1"/>
          </p:cNvGraphicFramePr>
          <p:nvPr>
            <p:extLst>
              <p:ext uri="{D42A27DB-BD31-4B8C-83A1-F6EECF244321}">
                <p14:modId xmlns:p14="http://schemas.microsoft.com/office/powerpoint/2010/main" val="1368910724"/>
              </p:ext>
            </p:extLst>
          </p:nvPr>
        </p:nvGraphicFramePr>
        <p:xfrm>
          <a:off x="335998" y="2390720"/>
          <a:ext cx="6732002" cy="2324100"/>
        </p:xfrm>
        <a:graphic>
          <a:graphicData uri="http://schemas.openxmlformats.org/drawingml/2006/table">
            <a:tbl>
              <a:tblPr/>
              <a:tblGrid>
                <a:gridCol w="837885">
                  <a:extLst>
                    <a:ext uri="{9D8B030D-6E8A-4147-A177-3AD203B41FA5}">
                      <a16:colId xmlns:a16="http://schemas.microsoft.com/office/drawing/2014/main" val="1579666313"/>
                    </a:ext>
                  </a:extLst>
                </a:gridCol>
                <a:gridCol w="939014">
                  <a:extLst>
                    <a:ext uri="{9D8B030D-6E8A-4147-A177-3AD203B41FA5}">
                      <a16:colId xmlns:a16="http://schemas.microsoft.com/office/drawing/2014/main" val="3941335089"/>
                    </a:ext>
                  </a:extLst>
                </a:gridCol>
                <a:gridCol w="939014">
                  <a:extLst>
                    <a:ext uri="{9D8B030D-6E8A-4147-A177-3AD203B41FA5}">
                      <a16:colId xmlns:a16="http://schemas.microsoft.com/office/drawing/2014/main" val="3137878983"/>
                    </a:ext>
                  </a:extLst>
                </a:gridCol>
                <a:gridCol w="939014">
                  <a:extLst>
                    <a:ext uri="{9D8B030D-6E8A-4147-A177-3AD203B41FA5}">
                      <a16:colId xmlns:a16="http://schemas.microsoft.com/office/drawing/2014/main" val="634482751"/>
                    </a:ext>
                  </a:extLst>
                </a:gridCol>
                <a:gridCol w="1141262">
                  <a:extLst>
                    <a:ext uri="{9D8B030D-6E8A-4147-A177-3AD203B41FA5}">
                      <a16:colId xmlns:a16="http://schemas.microsoft.com/office/drawing/2014/main" val="199584274"/>
                    </a:ext>
                  </a:extLst>
                </a:gridCol>
                <a:gridCol w="939014">
                  <a:extLst>
                    <a:ext uri="{9D8B030D-6E8A-4147-A177-3AD203B41FA5}">
                      <a16:colId xmlns:a16="http://schemas.microsoft.com/office/drawing/2014/main" val="2829254521"/>
                    </a:ext>
                  </a:extLst>
                </a:gridCol>
                <a:gridCol w="996799">
                  <a:extLst>
                    <a:ext uri="{9D8B030D-6E8A-4147-A177-3AD203B41FA5}">
                      <a16:colId xmlns:a16="http://schemas.microsoft.com/office/drawing/2014/main" val="3200944140"/>
                    </a:ext>
                  </a:extLst>
                </a:gridCol>
              </a:tblGrid>
              <a:tr h="244512">
                <a:tc>
                  <a:txBody>
                    <a:bodyPr/>
                    <a:lstStyle/>
                    <a:p>
                      <a:pPr algn="ctr" fontAlgn="ctr">
                        <a:buNone/>
                      </a:pPr>
                      <a:r>
                        <a:rPr lang="pt-BR" sz="800" b="1" i="0" u="none" strike="noStrike" dirty="0">
                          <a:solidFill>
                            <a:srgbClr val="000000"/>
                          </a:solidFill>
                          <a:effectLst/>
                          <a:latin typeface="Roboto Light" panose="02000000000000000000" pitchFamily="2" charset="0"/>
                        </a:rPr>
                        <a:t>Companhia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Ticker</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Peso</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Data 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Desempenho desde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Desempenho no mês</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Desempenho YTD</a:t>
                      </a:r>
                    </a:p>
                  </a:txBody>
                  <a:tcPr marL="7620" marR="7620" marT="7620" marB="0" anchor="ctr">
                    <a:lnL>
                      <a:noFill/>
                    </a:lnL>
                    <a:lnR>
                      <a:noFill/>
                    </a:lnR>
                    <a:lnT>
                      <a:noFill/>
                    </a:lnT>
                    <a:lnB>
                      <a:noFill/>
                    </a:lnB>
                    <a:solidFill>
                      <a:srgbClr val="FFC000"/>
                    </a:solidFill>
                  </a:tcPr>
                </a:tc>
                <a:extLst>
                  <a:ext uri="{0D108BD9-81ED-4DB2-BD59-A6C34878D82A}">
                    <a16:rowId xmlns:a16="http://schemas.microsoft.com/office/drawing/2014/main" val="3179169223"/>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BTG Pactual</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BPAC11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5.6%</a:t>
                      </a:r>
                    </a:p>
                  </a:txBody>
                  <a:tcPr marL="7620" marR="7620" marT="7620" marB="0" anchor="b">
                    <a:lnL>
                      <a:noFill/>
                    </a:lnL>
                    <a:lnR>
                      <a:noFill/>
                    </a:lnR>
                    <a:lnT>
                      <a:noFill/>
                    </a:lnT>
                    <a:lnB>
                      <a:noFill/>
                    </a:lnB>
                    <a:noFill/>
                  </a:tcPr>
                </a:tc>
                <a:extLst>
                  <a:ext uri="{0D108BD9-81ED-4DB2-BD59-A6C34878D82A}">
                    <a16:rowId xmlns:a16="http://schemas.microsoft.com/office/drawing/2014/main" val="3940188916"/>
                  </a:ext>
                </a:extLst>
              </a:tr>
              <a:tr h="125560">
                <a:tc>
                  <a:txBody>
                    <a:bodyPr/>
                    <a:lstStyle/>
                    <a:p>
                      <a:pPr algn="l" fontAlgn="b">
                        <a:buNone/>
                      </a:pPr>
                      <a:r>
                        <a:rPr lang="pt-BR" sz="800" b="0" i="0" u="none" strike="noStrike" dirty="0">
                          <a:solidFill>
                            <a:srgbClr val="000000"/>
                          </a:solidFill>
                          <a:effectLst/>
                          <a:latin typeface="Roboto Light" panose="02000000000000000000" pitchFamily="2" charset="0"/>
                        </a:rPr>
                        <a:t>Embraer</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EMBJ3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21.8%</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5.9%</a:t>
                      </a:r>
                    </a:p>
                  </a:txBody>
                  <a:tcPr marL="7620" marR="7620" marT="7620" marB="0" anchor="b">
                    <a:lnL>
                      <a:noFill/>
                    </a:lnL>
                    <a:lnR>
                      <a:noFill/>
                    </a:lnR>
                    <a:lnT>
                      <a:noFill/>
                    </a:lnT>
                    <a:lnB>
                      <a:noFill/>
                    </a:lnB>
                    <a:noFill/>
                  </a:tcPr>
                </a:tc>
                <a:extLst>
                  <a:ext uri="{0D108BD9-81ED-4DB2-BD59-A6C34878D82A}">
                    <a16:rowId xmlns:a16="http://schemas.microsoft.com/office/drawing/2014/main" val="1996726625"/>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Gerdau</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GGBR4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19.1%</a:t>
                      </a:r>
                    </a:p>
                  </a:txBody>
                  <a:tcPr marL="7620" marR="7620" marT="7620" marB="0" anchor="b">
                    <a:lnL>
                      <a:noFill/>
                    </a:lnL>
                    <a:lnR>
                      <a:noFill/>
                    </a:lnR>
                    <a:lnT>
                      <a:noFill/>
                    </a:lnT>
                    <a:lnB>
                      <a:noFill/>
                    </a:lnB>
                    <a:noFill/>
                  </a:tcPr>
                </a:tc>
                <a:extLst>
                  <a:ext uri="{0D108BD9-81ED-4DB2-BD59-A6C34878D82A}">
                    <a16:rowId xmlns:a16="http://schemas.microsoft.com/office/drawing/2014/main" val="2086726634"/>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Iguatemi</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IGTI11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45.1%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-2.3%</a:t>
                      </a:r>
                    </a:p>
                  </a:txBody>
                  <a:tcPr marL="7620" marR="7620" marT="7620" marB="0" anchor="b">
                    <a:lnL>
                      <a:noFill/>
                    </a:lnL>
                    <a:lnR>
                      <a:noFill/>
                    </a:lnR>
                    <a:lnT>
                      <a:noFill/>
                    </a:lnT>
                    <a:lnB>
                      <a:noFill/>
                    </a:lnB>
                    <a:noFill/>
                  </a:tcPr>
                </a:tc>
                <a:extLst>
                  <a:ext uri="{0D108BD9-81ED-4DB2-BD59-A6C34878D82A}">
                    <a16:rowId xmlns:a16="http://schemas.microsoft.com/office/drawing/2014/main" val="9727773"/>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Itaú Unibanco</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ITUB4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54.9%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-7.8%</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2.8%</a:t>
                      </a:r>
                    </a:p>
                  </a:txBody>
                  <a:tcPr marL="7620" marR="7620" marT="7620" marB="0" anchor="b">
                    <a:lnL>
                      <a:noFill/>
                    </a:lnL>
                    <a:lnR>
                      <a:noFill/>
                    </a:lnR>
                    <a:lnT>
                      <a:noFill/>
                    </a:lnT>
                    <a:lnB>
                      <a:noFill/>
                    </a:lnB>
                    <a:noFill/>
                  </a:tcPr>
                </a:tc>
                <a:extLst>
                  <a:ext uri="{0D108BD9-81ED-4DB2-BD59-A6C34878D82A}">
                    <a16:rowId xmlns:a16="http://schemas.microsoft.com/office/drawing/2014/main" val="4168847311"/>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Lojas Renner</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LREN3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fev-26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-27.9%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-19.9%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-16.5%</a:t>
                      </a:r>
                    </a:p>
                  </a:txBody>
                  <a:tcPr marL="7620" marR="7620" marT="7620" marB="0" anchor="b">
                    <a:lnL>
                      <a:noFill/>
                    </a:lnL>
                    <a:lnR>
                      <a:noFill/>
                    </a:lnR>
                    <a:lnT>
                      <a:noFill/>
                    </a:lnT>
                    <a:lnB>
                      <a:noFill/>
                    </a:lnB>
                    <a:noFill/>
                  </a:tcPr>
                </a:tc>
                <a:extLst>
                  <a:ext uri="{0D108BD9-81ED-4DB2-BD59-A6C34878D82A}">
                    <a16:rowId xmlns:a16="http://schemas.microsoft.com/office/drawing/2014/main" val="2795349975"/>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Orizon</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ORVR3</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-18.2%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-5.3%</a:t>
                      </a:r>
                    </a:p>
                  </a:txBody>
                  <a:tcPr marL="7620" marR="7620" marT="7620" marB="0" anchor="b">
                    <a:lnL>
                      <a:noFill/>
                    </a:lnL>
                    <a:lnR>
                      <a:noFill/>
                    </a:lnR>
                    <a:lnT>
                      <a:noFill/>
                    </a:lnT>
                    <a:lnB>
                      <a:noFill/>
                    </a:lnB>
                    <a:noFill/>
                  </a:tcPr>
                </a:tc>
                <a:extLst>
                  <a:ext uri="{0D108BD9-81ED-4DB2-BD59-A6C34878D82A}">
                    <a16:rowId xmlns:a16="http://schemas.microsoft.com/office/drawing/2014/main" val="1454286690"/>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Petrobras</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PETR4</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jan-26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26.8%</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55.3%</a:t>
                      </a:r>
                    </a:p>
                  </a:txBody>
                  <a:tcPr marL="7620" marR="7620" marT="7620" marB="0" anchor="b">
                    <a:lnL>
                      <a:noFill/>
                    </a:lnL>
                    <a:lnR>
                      <a:noFill/>
                    </a:lnR>
                    <a:lnT>
                      <a:noFill/>
                    </a:lnT>
                    <a:lnB>
                      <a:noFill/>
                    </a:lnB>
                    <a:noFill/>
                  </a:tcPr>
                </a:tc>
                <a:extLst>
                  <a:ext uri="{0D108BD9-81ED-4DB2-BD59-A6C34878D82A}">
                    <a16:rowId xmlns:a16="http://schemas.microsoft.com/office/drawing/2014/main" val="2894350890"/>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PRIO</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PRIO3</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jun-25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60.9%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3.0%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51.3%</a:t>
                      </a:r>
                    </a:p>
                  </a:txBody>
                  <a:tcPr marL="7620" marR="7620" marT="7620" marB="0" anchor="b">
                    <a:lnL>
                      <a:noFill/>
                    </a:lnL>
                    <a:lnR>
                      <a:noFill/>
                    </a:lnR>
                    <a:lnT>
                      <a:noFill/>
                    </a:lnT>
                    <a:lnB>
                      <a:noFill/>
                    </a:lnB>
                    <a:noFill/>
                  </a:tcPr>
                </a:tc>
                <a:extLst>
                  <a:ext uri="{0D108BD9-81ED-4DB2-BD59-A6C34878D82A}">
                    <a16:rowId xmlns:a16="http://schemas.microsoft.com/office/drawing/2014/main" val="2606703416"/>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Rede D'Or</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RDOR3</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jul-26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-12.5%</a:t>
                      </a:r>
                    </a:p>
                  </a:txBody>
                  <a:tcPr marL="7620" marR="7620" marT="7620" marB="0" anchor="b">
                    <a:lnL>
                      <a:noFill/>
                    </a:lnL>
                    <a:lnR>
                      <a:noFill/>
                    </a:lnR>
                    <a:lnT>
                      <a:noFill/>
                    </a:lnT>
                    <a:lnB>
                      <a:noFill/>
                    </a:lnB>
                    <a:noFill/>
                  </a:tcPr>
                </a:tc>
                <a:extLst>
                  <a:ext uri="{0D108BD9-81ED-4DB2-BD59-A6C34878D82A}">
                    <a16:rowId xmlns:a16="http://schemas.microsoft.com/office/drawing/2014/main" val="26952385"/>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Nubank</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ROXO34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abr-26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0.2%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3.6%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-19.4%</a:t>
                      </a:r>
                    </a:p>
                  </a:txBody>
                  <a:tcPr marL="7620" marR="7620" marT="7620" marB="0" anchor="b">
                    <a:lnL>
                      <a:noFill/>
                    </a:lnL>
                    <a:lnR>
                      <a:noFill/>
                    </a:lnR>
                    <a:lnT>
                      <a:noFill/>
                    </a:lnT>
                    <a:lnB>
                      <a:noFill/>
                    </a:lnB>
                    <a:noFill/>
                  </a:tcPr>
                </a:tc>
                <a:extLst>
                  <a:ext uri="{0D108BD9-81ED-4DB2-BD59-A6C34878D82A}">
                    <a16:rowId xmlns:a16="http://schemas.microsoft.com/office/drawing/2014/main" val="220972565"/>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Sabesp</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SBSP3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jan-26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-8.7%</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-4.6%</a:t>
                      </a:r>
                    </a:p>
                  </a:txBody>
                  <a:tcPr marL="7620" marR="7620" marT="7620" marB="0" anchor="b">
                    <a:lnL>
                      <a:noFill/>
                    </a:lnL>
                    <a:lnR>
                      <a:noFill/>
                    </a:lnR>
                    <a:lnT>
                      <a:noFill/>
                    </a:lnT>
                    <a:lnB>
                      <a:noFill/>
                    </a:lnB>
                    <a:noFill/>
                  </a:tcPr>
                </a:tc>
                <a:extLst>
                  <a:ext uri="{0D108BD9-81ED-4DB2-BD59-A6C34878D82A}">
                    <a16:rowId xmlns:a16="http://schemas.microsoft.com/office/drawing/2014/main" val="2850372994"/>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TOTVS</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TOTS3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12.0%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14.1%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-14.8%</a:t>
                      </a:r>
                    </a:p>
                  </a:txBody>
                  <a:tcPr marL="7620" marR="7620" marT="7620" marB="0" anchor="b">
                    <a:lnL>
                      <a:noFill/>
                    </a:lnL>
                    <a:lnR>
                      <a:noFill/>
                    </a:lnR>
                    <a:lnT>
                      <a:noFill/>
                    </a:lnT>
                    <a:lnB>
                      <a:noFill/>
                    </a:lnB>
                    <a:noFill/>
                  </a:tcPr>
                </a:tc>
                <a:extLst>
                  <a:ext uri="{0D108BD9-81ED-4DB2-BD59-A6C34878D82A}">
                    <a16:rowId xmlns:a16="http://schemas.microsoft.com/office/drawing/2014/main" val="598982014"/>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Vale</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VALE3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64.2%</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4.9%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11.2%</a:t>
                      </a:r>
                    </a:p>
                  </a:txBody>
                  <a:tcPr marL="7620" marR="7620" marT="7620" marB="0" anchor="b">
                    <a:lnL>
                      <a:noFill/>
                    </a:lnL>
                    <a:lnR>
                      <a:noFill/>
                    </a:lnR>
                    <a:lnT>
                      <a:noFill/>
                    </a:lnT>
                    <a:lnB>
                      <a:noFill/>
                    </a:lnB>
                    <a:noFill/>
                  </a:tcPr>
                </a:tc>
                <a:extLst>
                  <a:ext uri="{0D108BD9-81ED-4DB2-BD59-A6C34878D82A}">
                    <a16:rowId xmlns:a16="http://schemas.microsoft.com/office/drawing/2014/main" val="2639698680"/>
                  </a:ext>
                </a:extLst>
              </a:tr>
            </a:tbl>
          </a:graphicData>
        </a:graphic>
      </p:graphicFrame>
      <p:graphicFrame>
        <p:nvGraphicFramePr>
          <p:cNvPr id="10" name="Chart 9">
            <a:extLst>
              <a:ext uri="{FF2B5EF4-FFF2-40B4-BE49-F238E27FC236}">
                <a16:creationId xmlns:a16="http://schemas.microsoft.com/office/drawing/2014/main" id="{749827C0-56C4-104E-CD1A-EE898945BE8C}"/>
              </a:ext>
            </a:extLst>
          </p:cNvPr>
          <p:cNvGraphicFramePr>
            <a:graphicFrameLocks/>
          </p:cNvGraphicFramePr>
          <p:nvPr>
            <p:extLst>
              <p:ext uri="{D42A27DB-BD31-4B8C-83A1-F6EECF244321}">
                <p14:modId xmlns:p14="http://schemas.microsoft.com/office/powerpoint/2010/main" val="4042964746"/>
              </p:ext>
            </p:extLst>
          </p:nvPr>
        </p:nvGraphicFramePr>
        <p:xfrm>
          <a:off x="7209279" y="2370825"/>
          <a:ext cx="4572000" cy="34879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12339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EA958-2E20-2D33-D831-E722566AC703}"/>
            </a:ext>
          </a:extLst>
        </p:cNvPr>
        <p:cNvGrpSpPr/>
        <p:nvPr/>
      </p:nvGrpSpPr>
      <p:grpSpPr>
        <a:xfrm>
          <a:off x="0" y="0"/>
          <a:ext cx="0" cy="0"/>
          <a:chOff x="0" y="0"/>
          <a:chExt cx="0" cy="0"/>
        </a:xfrm>
      </p:grpSpPr>
      <p:sp>
        <p:nvSpPr>
          <p:cNvPr id="15" name="Text Placeholder 14">
            <a:extLst>
              <a:ext uri="{FF2B5EF4-FFF2-40B4-BE49-F238E27FC236}">
                <a16:creationId xmlns:a16="http://schemas.microsoft.com/office/drawing/2014/main" id="{47528D57-35BF-2FB7-CCA9-FE004E1388BD}"/>
              </a:ext>
            </a:extLst>
          </p:cNvPr>
          <p:cNvSpPr>
            <a:spLocks noGrp="1"/>
          </p:cNvSpPr>
          <p:nvPr>
            <p:ph type="body" sz="quarter" idx="18"/>
          </p:nvPr>
        </p:nvSpPr>
        <p:spPr/>
        <p:txBody>
          <a:bodyPr/>
          <a:lstStyle/>
          <a:p>
            <a:r>
              <a:rPr lang="pt-BR" dirty="0"/>
              <a:t>Fonte: XP Research. </a:t>
            </a:r>
          </a:p>
        </p:txBody>
      </p:sp>
      <p:sp>
        <p:nvSpPr>
          <p:cNvPr id="14" name="Text Placeholder 13">
            <a:extLst>
              <a:ext uri="{FF2B5EF4-FFF2-40B4-BE49-F238E27FC236}">
                <a16:creationId xmlns:a16="http://schemas.microsoft.com/office/drawing/2014/main" id="{895543C9-CC26-D778-949D-EF53FE3F21F6}"/>
              </a:ext>
            </a:extLst>
          </p:cNvPr>
          <p:cNvSpPr>
            <a:spLocks noGrp="1"/>
          </p:cNvSpPr>
          <p:nvPr>
            <p:ph type="body" sz="quarter" idx="16"/>
          </p:nvPr>
        </p:nvSpPr>
        <p:spPr/>
        <p:txBody>
          <a:bodyPr/>
          <a:lstStyle/>
          <a:p>
            <a:r>
              <a:rPr lang="pt-BR" dirty="0"/>
              <a:t>Carteira Top Ações XP</a:t>
            </a:r>
          </a:p>
        </p:txBody>
      </p:sp>
      <p:sp>
        <p:nvSpPr>
          <p:cNvPr id="5" name="Date Placeholder 4">
            <a:extLst>
              <a:ext uri="{FF2B5EF4-FFF2-40B4-BE49-F238E27FC236}">
                <a16:creationId xmlns:a16="http://schemas.microsoft.com/office/drawing/2014/main" id="{70817814-44FF-3046-BEE8-F67F4F44A1F4}"/>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graphicFrame>
        <p:nvGraphicFramePr>
          <p:cNvPr id="21" name="Table 21">
            <a:extLst>
              <a:ext uri="{FF2B5EF4-FFF2-40B4-BE49-F238E27FC236}">
                <a16:creationId xmlns:a16="http://schemas.microsoft.com/office/drawing/2014/main" id="{587F1BAC-EF0B-3289-83BF-349D0CA7241E}"/>
              </a:ext>
            </a:extLst>
          </p:cNvPr>
          <p:cNvGraphicFramePr>
            <a:graphicFrameLocks noGrp="1"/>
          </p:cNvGraphicFramePr>
          <p:nvPr>
            <p:ph sz="quarter" idx="25"/>
            <p:extLst>
              <p:ext uri="{D42A27DB-BD31-4B8C-83A1-F6EECF244321}">
                <p14:modId xmlns:p14="http://schemas.microsoft.com/office/powerpoint/2010/main" val="2533929417"/>
              </p:ext>
            </p:extLst>
          </p:nvPr>
        </p:nvGraphicFramePr>
        <p:xfrm>
          <a:off x="249771" y="837635"/>
          <a:ext cx="11605678" cy="5439182"/>
        </p:xfrm>
        <a:graphic>
          <a:graphicData uri="http://schemas.openxmlformats.org/drawingml/2006/table">
            <a:tbl>
              <a:tblPr firstRow="1" bandRow="1">
                <a:tableStyleId>{F2DE63D5-997A-4646-A377-4702673A728D}</a:tableStyleId>
              </a:tblPr>
              <a:tblGrid>
                <a:gridCol w="970696">
                  <a:extLst>
                    <a:ext uri="{9D8B030D-6E8A-4147-A177-3AD203B41FA5}">
                      <a16:colId xmlns:a16="http://schemas.microsoft.com/office/drawing/2014/main" val="4145286018"/>
                    </a:ext>
                  </a:extLst>
                </a:gridCol>
                <a:gridCol w="649373">
                  <a:extLst>
                    <a:ext uri="{9D8B030D-6E8A-4147-A177-3AD203B41FA5}">
                      <a16:colId xmlns:a16="http://schemas.microsoft.com/office/drawing/2014/main" val="173187423"/>
                    </a:ext>
                  </a:extLst>
                </a:gridCol>
                <a:gridCol w="456006">
                  <a:extLst>
                    <a:ext uri="{9D8B030D-6E8A-4147-A177-3AD203B41FA5}">
                      <a16:colId xmlns:a16="http://schemas.microsoft.com/office/drawing/2014/main" val="4270396654"/>
                    </a:ext>
                  </a:extLst>
                </a:gridCol>
                <a:gridCol w="998282">
                  <a:extLst>
                    <a:ext uri="{9D8B030D-6E8A-4147-A177-3AD203B41FA5}">
                      <a16:colId xmlns:a16="http://schemas.microsoft.com/office/drawing/2014/main" val="235090091"/>
                    </a:ext>
                  </a:extLst>
                </a:gridCol>
                <a:gridCol w="715720">
                  <a:extLst>
                    <a:ext uri="{9D8B030D-6E8A-4147-A177-3AD203B41FA5}">
                      <a16:colId xmlns:a16="http://schemas.microsoft.com/office/drawing/2014/main" val="542523139"/>
                    </a:ext>
                  </a:extLst>
                </a:gridCol>
                <a:gridCol w="6905583">
                  <a:extLst>
                    <a:ext uri="{9D8B030D-6E8A-4147-A177-3AD203B41FA5}">
                      <a16:colId xmlns:a16="http://schemas.microsoft.com/office/drawing/2014/main" val="1650878578"/>
                    </a:ext>
                  </a:extLst>
                </a:gridCol>
                <a:gridCol w="910018">
                  <a:extLst>
                    <a:ext uri="{9D8B030D-6E8A-4147-A177-3AD203B41FA5}">
                      <a16:colId xmlns:a16="http://schemas.microsoft.com/office/drawing/2014/main" val="2243829412"/>
                    </a:ext>
                  </a:extLst>
                </a:gridCol>
              </a:tblGrid>
              <a:tr h="180000">
                <a:tc>
                  <a:txBody>
                    <a:bodyPr/>
                    <a:lstStyle/>
                    <a:p>
                      <a:pPr algn="ctr" fontAlgn="b">
                        <a:buNone/>
                      </a:pPr>
                      <a:r>
                        <a:rPr lang="pt-BR" sz="700" b="1" i="0" u="none" strike="noStrike" dirty="0">
                          <a:solidFill>
                            <a:srgbClr val="000000"/>
                          </a:solidFill>
                          <a:effectLst/>
                          <a:latin typeface="+mj-lt"/>
                        </a:rPr>
                        <a:t>Companhia</a:t>
                      </a:r>
                    </a:p>
                  </a:txBody>
                  <a:tcPr marL="9525" marR="9525" marT="9525" marB="0" anchor="ctr"/>
                </a:tc>
                <a:tc>
                  <a:txBody>
                    <a:bodyPr/>
                    <a:lstStyle/>
                    <a:p>
                      <a:pPr algn="ctr" fontAlgn="b">
                        <a:buNone/>
                      </a:pPr>
                      <a:r>
                        <a:rPr lang="pt-BR" sz="700" b="1" i="0" u="none" strike="noStrike" dirty="0" err="1">
                          <a:solidFill>
                            <a:srgbClr val="000000"/>
                          </a:solidFill>
                          <a:effectLst/>
                          <a:latin typeface="+mj-lt"/>
                        </a:rPr>
                        <a:t>Ticker</a:t>
                      </a:r>
                      <a:endParaRPr lang="pt-BR" sz="700" b="1" i="0" u="none" strike="noStrike" dirty="0">
                        <a:solidFill>
                          <a:srgbClr val="000000"/>
                        </a:solidFill>
                        <a:effectLst/>
                        <a:latin typeface="+mj-lt"/>
                      </a:endParaRPr>
                    </a:p>
                  </a:txBody>
                  <a:tcPr marL="9525" marR="9525" marT="9525" marB="0" anchor="ctr"/>
                </a:tc>
                <a:tc>
                  <a:txBody>
                    <a:bodyPr/>
                    <a:lstStyle/>
                    <a:p>
                      <a:pPr algn="ctr" fontAlgn="b">
                        <a:buNone/>
                      </a:pPr>
                      <a:r>
                        <a:rPr lang="pt-BR" sz="700" b="1" i="0" u="none" strike="noStrike" dirty="0">
                          <a:solidFill>
                            <a:srgbClr val="000000"/>
                          </a:solidFill>
                          <a:effectLst/>
                          <a:latin typeface="+mj-lt"/>
                        </a:rPr>
                        <a:t>Peso </a:t>
                      </a:r>
                    </a:p>
                  </a:txBody>
                  <a:tcPr marL="9525" marR="9525" marT="9525" marB="0" anchor="ctr"/>
                </a:tc>
                <a:tc>
                  <a:txBody>
                    <a:bodyPr/>
                    <a:lstStyle/>
                    <a:p>
                      <a:pPr algn="ctr" fontAlgn="b">
                        <a:buNone/>
                      </a:pPr>
                      <a:r>
                        <a:rPr lang="pt-BR" sz="700" b="1" i="0" u="none" strike="noStrike" dirty="0">
                          <a:solidFill>
                            <a:srgbClr val="000000"/>
                          </a:solidFill>
                          <a:effectLst/>
                          <a:latin typeface="+mj-lt"/>
                        </a:rPr>
                        <a:t>Recomendação</a:t>
                      </a:r>
                    </a:p>
                  </a:txBody>
                  <a:tcPr marL="9525" marR="9525" marT="9525" marB="0" anchor="ctr"/>
                </a:tc>
                <a:tc>
                  <a:txBody>
                    <a:bodyPr/>
                    <a:lstStyle/>
                    <a:p>
                      <a:pPr algn="ctr" fontAlgn="b">
                        <a:buNone/>
                      </a:pPr>
                      <a:r>
                        <a:rPr lang="pt-BR" sz="700" b="1" i="0" u="none" strike="noStrike" dirty="0">
                          <a:solidFill>
                            <a:srgbClr val="000000"/>
                          </a:solidFill>
                          <a:effectLst/>
                          <a:latin typeface="+mj-lt"/>
                        </a:rPr>
                        <a:t>Preço-Alvo</a:t>
                      </a:r>
                    </a:p>
                  </a:txBody>
                  <a:tcPr marL="9525" marR="9525" marT="9525" marB="0" anchor="ctr"/>
                </a:tc>
                <a:tc>
                  <a:txBody>
                    <a:bodyPr/>
                    <a:lstStyle/>
                    <a:p>
                      <a:pPr algn="ctr" rtl="0" fontAlgn="ctr"/>
                      <a:r>
                        <a:rPr lang="pt-BR" sz="700" b="1" i="0" u="none" strike="noStrike" dirty="0">
                          <a:solidFill>
                            <a:schemeClr val="tx1"/>
                          </a:solidFill>
                          <a:effectLst/>
                          <a:latin typeface="+mj-lt"/>
                        </a:rPr>
                        <a:t>Comentários</a:t>
                      </a:r>
                    </a:p>
                  </a:txBody>
                  <a:tcPr marL="2739" marR="2739" marT="2739" marB="0" anchor="ctr"/>
                </a:tc>
                <a:tc>
                  <a:txBody>
                    <a:bodyPr/>
                    <a:lstStyle/>
                    <a:p>
                      <a:pPr algn="ctr" rtl="0" fontAlgn="ctr"/>
                      <a:r>
                        <a:rPr lang="pt-BR" sz="700" b="1" i="0" u="none" strike="noStrike" dirty="0">
                          <a:solidFill>
                            <a:schemeClr val="tx1"/>
                          </a:solidFill>
                          <a:effectLst/>
                          <a:latin typeface="+mj-lt"/>
                        </a:rPr>
                        <a:t>Link para tese</a:t>
                      </a:r>
                    </a:p>
                  </a:txBody>
                  <a:tcPr marL="2739" marR="2739" marT="2739" marB="0" anchor="ctr"/>
                </a:tc>
                <a:extLst>
                  <a:ext uri="{0D108BD9-81ED-4DB2-BD59-A6C34878D82A}">
                    <a16:rowId xmlns:a16="http://schemas.microsoft.com/office/drawing/2014/main" val="3107392619"/>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Petrobras</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PETR4</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R$ 63,00</a:t>
                      </a:r>
                    </a:p>
                  </a:txBody>
                  <a:tcPr marL="4409" marR="4409" marT="4409" marB="0" anchor="ctr"/>
                </a:tc>
                <a:tc>
                  <a:txBody>
                    <a:bodyPr/>
                    <a:lstStyle/>
                    <a:p>
                      <a:pPr algn="just" rtl="0" fontAlgn="b">
                        <a:lnSpc>
                          <a:spcPct val="100000"/>
                        </a:lnSpc>
                      </a:pPr>
                      <a:r>
                        <a:rPr lang="pt-BR" sz="700" dirty="0"/>
                        <a:t>Alta em agosto, acima do Ibovespa. A Petrobras segue entre nossas preferências no setor: em nossa visão, a companhia oferece uma das melhores relações entre risco e retorno diante da volatilidade associada ao conflito entre Estados Unidos e Irã, e os retornos permanecem atrativos caso os preços do petróleo se mantenham em patamares elevados.</a:t>
                      </a:r>
                      <a:endParaRPr lang="pt-BR" sz="700" b="0" i="0" u="none" strike="noStrike" dirty="0">
                        <a:solidFill>
                          <a:srgbClr val="000000"/>
                        </a:solidFill>
                        <a:effectLst/>
                        <a:latin typeface="+mj-lt"/>
                      </a:endParaRP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15"/>
                        </a:rPr>
                        <a:t>Clique aqui</a:t>
                      </a:r>
                      <a:endParaRPr lang="pt-BR" sz="700" i="0" dirty="0">
                        <a:latin typeface="+mj-lt"/>
                      </a:endParaRPr>
                    </a:p>
                  </a:txBody>
                  <a:tcPr anchor="ctr"/>
                </a:tc>
                <a:extLst>
                  <a:ext uri="{0D108BD9-81ED-4DB2-BD59-A6C34878D82A}">
                    <a16:rowId xmlns:a16="http://schemas.microsoft.com/office/drawing/2014/main" val="2605982814"/>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PRIO</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PRIO3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R$ 78,00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dirty="0"/>
                        <a:t>Alta em agosto, acima do Ibovespa. A PRIO segue como nossa principal preferência em óleo e gás: os preços do petróleo permanecem em patamares relativamente elevados e esperamos forte geração de caixa em 2027. A companhia mantém níveis elevados de produção, impulsionados sobretudo pela entrada em regime do campo de Wahoo e por Peregrino.</a:t>
                      </a:r>
                      <a:endParaRPr lang="pt-BR" sz="700" i="0" dirty="0">
                        <a:latin typeface="+mj-lt"/>
                      </a:endParaRP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8"/>
                        </a:rPr>
                        <a:t>Clique aqui</a:t>
                      </a:r>
                      <a:endParaRPr lang="pt-BR" sz="700" i="0" dirty="0">
                        <a:latin typeface="+mj-lt"/>
                      </a:endParaRPr>
                    </a:p>
                  </a:txBody>
                  <a:tcPr anchor="ctr"/>
                </a:tc>
                <a:extLst>
                  <a:ext uri="{0D108BD9-81ED-4DB2-BD59-A6C34878D82A}">
                    <a16:rowId xmlns:a16="http://schemas.microsoft.com/office/drawing/2014/main" val="1862565642"/>
                  </a:ext>
                </a:extLst>
              </a:tr>
              <a:tr h="407735">
                <a:tc>
                  <a:txBody>
                    <a:bodyPr/>
                    <a:lstStyle/>
                    <a:p>
                      <a:pPr algn="ctr" fontAlgn="ctr">
                        <a:buNone/>
                      </a:pPr>
                      <a:r>
                        <a:rPr lang="pt-BR" sz="700" b="0" i="0" u="none" strike="noStrike" dirty="0">
                          <a:solidFill>
                            <a:srgbClr val="000000"/>
                          </a:solidFill>
                          <a:effectLst/>
                          <a:latin typeface="Roboto Light" panose="02000000000000000000" pitchFamily="2" charset="0"/>
                        </a:rPr>
                        <a:t>Gerdau</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GGBR4</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R$ 30,00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Queda em agosto, abaixo do Ibovespa, refletindo as preocupações com uma possível flexibilização das tarifas sobre o aço canadense nos Estados Unidos, que elevaria a competição de importados e aceleraria a normalização das margens na América do Norte. O movimento ocorreu apesar dos resultados sólidos do 2T26 e das revisões positivas de lucro.</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kern="1200" dirty="0">
                          <a:solidFill>
                            <a:schemeClr val="tx1"/>
                          </a:solidFill>
                          <a:latin typeface="+mj-lt"/>
                          <a:ea typeface="Roboto Light" panose="02000000000000000000" pitchFamily="2" charset="0"/>
                          <a:cs typeface="Roboto Light" panose="02000000000000000000" pitchFamily="2" charset="0"/>
                          <a:hlinkClick r:id="rId5"/>
                        </a:rPr>
                        <a:t>Clique aqui</a:t>
                      </a:r>
                      <a:endParaRPr lang="pt-BR" sz="700" i="0" kern="1200" dirty="0">
                        <a:solidFill>
                          <a:schemeClr val="tx1"/>
                        </a:solidFill>
                        <a:latin typeface="+mj-lt"/>
                        <a:ea typeface="+mn-ea"/>
                        <a:cs typeface="+mn-cs"/>
                      </a:endParaRPr>
                    </a:p>
                  </a:txBody>
                  <a:tcPr anchor="ctr"/>
                </a:tc>
                <a:extLst>
                  <a:ext uri="{0D108BD9-81ED-4DB2-BD59-A6C34878D82A}">
                    <a16:rowId xmlns:a16="http://schemas.microsoft.com/office/drawing/2014/main" val="131953208"/>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Vale</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VALE3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Neutro</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R$ 85,00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Alta em agosto, acima do Ibovespa, apesar de fundamentos ainda frágeis para o minério de ferro, com demanda fraca na China e oferta confortável. Ao longo do mês, as discussões apontaram um mercado de minério relativamente equilibrado, enquanto o bom desempenho de Metais Básicos trouxe uma leitura mais favorável para essa parte da tese.</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solidFill>
                            <a:schemeClr val="tx1"/>
                          </a:solidFill>
                          <a:latin typeface="+mj-lt"/>
                          <a:ea typeface="Roboto Light" panose="02000000000000000000" pitchFamily="2" charset="0"/>
                          <a:cs typeface="Roboto Light" panose="02000000000000000000" pitchFamily="2" charset="0"/>
                          <a:hlinkClick r:id="rId6"/>
                        </a:rPr>
                        <a:t>Clique aqui</a:t>
                      </a:r>
                      <a:endParaRPr lang="pt-BR" sz="700" i="0" dirty="0">
                        <a:solidFill>
                          <a:schemeClr val="tx1"/>
                        </a:solidFill>
                        <a:latin typeface="+mj-lt"/>
                      </a:endParaRPr>
                    </a:p>
                  </a:txBody>
                  <a:tcPr anchor="ctr"/>
                </a:tc>
                <a:extLst>
                  <a:ext uri="{0D108BD9-81ED-4DB2-BD59-A6C34878D82A}">
                    <a16:rowId xmlns:a16="http://schemas.microsoft.com/office/drawing/2014/main" val="1262842000"/>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Embraer</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EMBJ3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R$ 87,00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Alta em agosto, acima do Ibovespa, acompanhada de resultados robustos no 2T26, com crescimento disseminado das receitas, melhora das margens recorrentes e forte geração de caixa, que levaram a companhia a elevar a projeção de margem operacional. Segue nossa preferência em Bens de Capital, apoiada pela melhora da qualidade da carteira de pedidos.</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9"/>
                        </a:rPr>
                        <a:t>Clique aqui</a:t>
                      </a:r>
                      <a:endParaRPr lang="pt-BR" sz="700" i="0" dirty="0">
                        <a:latin typeface="+mj-lt"/>
                      </a:endParaRPr>
                    </a:p>
                  </a:txBody>
                  <a:tcPr anchor="ctr"/>
                </a:tc>
                <a:extLst>
                  <a:ext uri="{0D108BD9-81ED-4DB2-BD59-A6C34878D82A}">
                    <a16:rowId xmlns:a16="http://schemas.microsoft.com/office/drawing/2014/main" val="281520302"/>
                  </a:ext>
                </a:extLst>
              </a:tr>
              <a:tr h="386009">
                <a:tc>
                  <a:txBody>
                    <a:bodyPr/>
                    <a:lstStyle/>
                    <a:p>
                      <a:pPr algn="ctr" fontAlgn="ctr">
                        <a:buNone/>
                      </a:pPr>
                      <a:r>
                        <a:rPr lang="pt-BR" sz="700" b="0" i="0" u="none" strike="noStrike" dirty="0">
                          <a:solidFill>
                            <a:srgbClr val="000000"/>
                          </a:solidFill>
                          <a:effectLst/>
                          <a:latin typeface="Roboto Light" panose="02000000000000000000" pitchFamily="2" charset="0"/>
                        </a:rPr>
                        <a:t>TOTVS</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TOTS3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R$ 50,50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Alta em agosto, acima do Ibovespa, após um mês de forte volatilidade. O papel chegou a recuar depois da divulgação dos resultados do 2T26, pressionado pelas saídas de capital estrangeiro e pela deterioração do sentimento em relação ao mercado brasileiro, mas recuperou integralmente as perdas iniciais na segunda metade do mês.</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kern="1200" dirty="0">
                          <a:solidFill>
                            <a:schemeClr val="tx1"/>
                          </a:solidFill>
                          <a:latin typeface="+mj-lt"/>
                          <a:ea typeface="Roboto Light" panose="02000000000000000000" pitchFamily="2" charset="0"/>
                          <a:cs typeface="Roboto Light" panose="02000000000000000000" pitchFamily="2" charset="0"/>
                          <a:hlinkClick r:id="rId10"/>
                        </a:rPr>
                        <a:t>Clique aqui</a:t>
                      </a:r>
                      <a:endParaRPr lang="pt-BR" sz="700" i="0" kern="1200" dirty="0">
                        <a:solidFill>
                          <a:schemeClr val="tx1"/>
                        </a:solidFill>
                        <a:latin typeface="+mj-lt"/>
                        <a:ea typeface="+mn-ea"/>
                        <a:cs typeface="+mn-cs"/>
                      </a:endParaRPr>
                    </a:p>
                  </a:txBody>
                  <a:tcPr anchor="ctr"/>
                </a:tc>
                <a:extLst>
                  <a:ext uri="{0D108BD9-81ED-4DB2-BD59-A6C34878D82A}">
                    <a16:rowId xmlns:a16="http://schemas.microsoft.com/office/drawing/2014/main" val="565185090"/>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Iguatemi</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IGTI11</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R$ 35,00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Queda em agosto, abaixo do Ibovespa. Mantemos visão positiva, apoiada na qualidade e produtividade dos ativos, na maior exposição ao segmento de alta renda e na perspectiva de crescimento acima da média do setor. Apesar do resultado financeiro do 2T26 abaixo do esperado e da maior alavancagem, os indicadores operacionais seguiram saudáveis.</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11"/>
                        </a:rPr>
                        <a:t>Clique aqui</a:t>
                      </a:r>
                      <a:endParaRPr lang="pt-BR" sz="700" i="0" dirty="0">
                        <a:latin typeface="+mj-lt"/>
                      </a:endParaRPr>
                    </a:p>
                  </a:txBody>
                  <a:tcPr anchor="ctr"/>
                </a:tc>
                <a:extLst>
                  <a:ext uri="{0D108BD9-81ED-4DB2-BD59-A6C34878D82A}">
                    <a16:rowId xmlns:a16="http://schemas.microsoft.com/office/drawing/2014/main" val="1243717988"/>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Cury</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CURY3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R$ 45,00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Incluímos a Cury na carteira em setembro, nossa principal escolha entre as construtoras de baixa renda. A tese segue apoiada por execução consistente, elevada rentabilidade, forte geração de caixa e perfil atrativo de dividendos.</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kern="1200" dirty="0">
                          <a:solidFill>
                            <a:schemeClr val="tx1"/>
                          </a:solidFill>
                          <a:latin typeface="+mj-lt"/>
                          <a:ea typeface="Roboto Light" panose="02000000000000000000" pitchFamily="2" charset="0"/>
                          <a:cs typeface="Roboto Light" panose="02000000000000000000" pitchFamily="2" charset="0"/>
                          <a:hlinkClick r:id="rId7"/>
                        </a:rPr>
                        <a:t>Clique aqui</a:t>
                      </a:r>
                      <a:endParaRPr lang="pt-BR" sz="700" i="0" kern="1200" dirty="0">
                        <a:solidFill>
                          <a:schemeClr val="tx1"/>
                        </a:solidFill>
                        <a:latin typeface="+mj-lt"/>
                        <a:ea typeface="+mn-ea"/>
                        <a:cs typeface="+mn-cs"/>
                      </a:endParaRPr>
                    </a:p>
                  </a:txBody>
                  <a:tcPr anchor="ctr"/>
                </a:tc>
                <a:extLst>
                  <a:ext uri="{0D108BD9-81ED-4DB2-BD59-A6C34878D82A}">
                    <a16:rowId xmlns:a16="http://schemas.microsoft.com/office/drawing/2014/main" val="300089981"/>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Rede D'Or</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RDOR3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R$ 45,00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Alta em agosto, acima do Ibovespa, refletindo um resultado sólido no 2T26, marcado pela melhora da sinistralidade na SulAmérica e pelo bom desempenho hospitalar. Reiteramos nossa visão positiva para a companhia.</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kern="1200" dirty="0">
                          <a:solidFill>
                            <a:schemeClr val="tx1"/>
                          </a:solidFill>
                          <a:latin typeface="+mj-lt"/>
                          <a:ea typeface="Roboto Light" panose="02000000000000000000" pitchFamily="2" charset="0"/>
                          <a:cs typeface="Roboto Light" panose="02000000000000000000" pitchFamily="2" charset="0"/>
                          <a:hlinkClick r:id="rId12"/>
                        </a:rPr>
                        <a:t>Clique aqui</a:t>
                      </a:r>
                      <a:endParaRPr lang="pt-BR" sz="700" i="0" dirty="0">
                        <a:latin typeface="+mj-lt"/>
                      </a:endParaRPr>
                    </a:p>
                  </a:txBody>
                  <a:tcPr anchor="ctr"/>
                </a:tc>
                <a:extLst>
                  <a:ext uri="{0D108BD9-81ED-4DB2-BD59-A6C34878D82A}">
                    <a16:rowId xmlns:a16="http://schemas.microsoft.com/office/drawing/2014/main" val="2849596623"/>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Axia Energia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AXIA3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R$ 63,32</a:t>
                      </a:r>
                    </a:p>
                  </a:txBody>
                  <a:tcPr marL="4409" marR="4409" marT="4409" marB="0" anchor="ctr"/>
                </a:tc>
                <a:tc>
                  <a:txBody>
                    <a:bodyPr/>
                    <a:lstStyle/>
                    <a:p>
                      <a:pPr algn="just">
                        <a:lnSpc>
                          <a:spcPct val="100000"/>
                        </a:lnSpc>
                      </a:pPr>
                      <a:r>
                        <a:rPr lang="pt-BR" sz="700" b="0" i="0" dirty="0">
                          <a:latin typeface="+mj-lt"/>
                        </a:rPr>
                        <a:t>Incluímos a Axia Energia na carteira em setembro. A forte visibilidade da companhia entre os investidores estrangeiros e um potencial aumento da alocação em Brasil podem dar suporte às ações. À frente, o El Niño pode elevar os riscos de ondas de calor e a volatilidade da geração eólica, sustentando os preços de energia no 4T26.</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13"/>
                        </a:rPr>
                        <a:t>Clique aqui</a:t>
                      </a:r>
                      <a:endParaRPr lang="pt-BR" sz="700" i="0" dirty="0">
                        <a:latin typeface="+mj-lt"/>
                      </a:endParaRPr>
                    </a:p>
                  </a:txBody>
                  <a:tcPr anchor="ctr"/>
                </a:tc>
                <a:extLst>
                  <a:ext uri="{0D108BD9-81ED-4DB2-BD59-A6C34878D82A}">
                    <a16:rowId xmlns:a16="http://schemas.microsoft.com/office/drawing/2014/main" val="2495869504"/>
                  </a:ext>
                </a:extLst>
              </a:tr>
              <a:tr h="386009">
                <a:tc>
                  <a:txBody>
                    <a:bodyPr/>
                    <a:lstStyle/>
                    <a:p>
                      <a:pPr algn="ctr" fontAlgn="ctr">
                        <a:buNone/>
                      </a:pPr>
                      <a:r>
                        <a:rPr lang="pt-BR" sz="700" b="0" i="0" u="none" strike="noStrike" dirty="0">
                          <a:solidFill>
                            <a:srgbClr val="000000"/>
                          </a:solidFill>
                          <a:effectLst/>
                          <a:latin typeface="Roboto Light" panose="02000000000000000000" pitchFamily="2" charset="0"/>
                        </a:rPr>
                        <a:t>Sabesp</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SBSP3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R$ 38,25</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dirty="0">
                          <a:latin typeface="+mj-lt"/>
                        </a:rPr>
                        <a:t>Queda em agosto, abaixo do Ibovespa. Por ser um papel com grande participação de investidores institucionais estrangeiros, sofreu com a troca de alocação em emergentes por posições ligadas à inteligência artificial. O resultado do 2T26 também ficou abaixo do esperado, com temperaturas mais baixas reduzindo volumes e receita, além de maior pressão de custos.</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14"/>
                        </a:rPr>
                        <a:t>Clique aqui</a:t>
                      </a:r>
                      <a:endParaRPr lang="pt-BR" sz="700" i="0" dirty="0">
                        <a:latin typeface="+mj-lt"/>
                      </a:endParaRPr>
                    </a:p>
                  </a:txBody>
                  <a:tcPr anchor="ctr"/>
                </a:tc>
                <a:extLst>
                  <a:ext uri="{0D108BD9-81ED-4DB2-BD59-A6C34878D82A}">
                    <a16:rowId xmlns:a16="http://schemas.microsoft.com/office/drawing/2014/main" val="2429060278"/>
                  </a:ext>
                </a:extLst>
              </a:tr>
              <a:tr h="285933">
                <a:tc>
                  <a:txBody>
                    <a:bodyPr/>
                    <a:lstStyle/>
                    <a:p>
                      <a:pPr algn="ctr" fontAlgn="ctr">
                        <a:buNone/>
                      </a:pPr>
                      <a:r>
                        <a:rPr lang="pt-BR" sz="700" b="0" i="0" u="none" strike="noStrike" dirty="0" err="1">
                          <a:solidFill>
                            <a:srgbClr val="000000"/>
                          </a:solidFill>
                          <a:effectLst/>
                          <a:latin typeface="Roboto Light" panose="02000000000000000000" pitchFamily="2" charset="0"/>
                        </a:rPr>
                        <a:t>Itaú Unibanco</a:t>
                      </a:r>
                      <a:endParaRPr lang="pt-BR" sz="7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ITUB4</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R$ 50,00</a:t>
                      </a:r>
                    </a:p>
                  </a:txBody>
                  <a:tcPr marL="4409" marR="4409" marT="4409" marB="0" anchor="ctr"/>
                </a:tc>
                <a:tc>
                  <a:txBody>
                    <a:bodyPr/>
                    <a:lstStyle/>
                    <a:p>
                      <a:pPr algn="just">
                        <a:lnSpc>
                          <a:spcPct val="100000"/>
                        </a:lnSpc>
                      </a:pPr>
                      <a:r>
                        <a:rPr lang="pt-BR" sz="700" i="0" dirty="0">
                          <a:latin typeface="+mj-lt"/>
                        </a:rPr>
                        <a:t>Queda em agosto, abaixo do Ibovespa e em linha com os pares, refletindo o cenário macroeconômico desafiador, que pode pesar sobre o crescimento da carteira e a qualidade do crédito. Seguimos vendo o banco bem posicionado para manter retornos sobre o patrimônio acima dos pares e do próprio custo de capital, com riscos altistas relevantes para a tese.</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16"/>
                        </a:rPr>
                        <a:t>Clique aqui</a:t>
                      </a:r>
                      <a:endParaRPr lang="pt-BR" sz="700" i="0" dirty="0">
                        <a:latin typeface="+mj-lt"/>
                      </a:endParaRPr>
                    </a:p>
                  </a:txBody>
                  <a:tcPr anchor="ctr"/>
                </a:tc>
                <a:extLst>
                  <a:ext uri="{0D108BD9-81ED-4DB2-BD59-A6C34878D82A}">
                    <a16:rowId xmlns:a16="http://schemas.microsoft.com/office/drawing/2014/main" val="18462571"/>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BTG Pactual</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BPAC11</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R$ 63,00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Queda em agosto, abaixo do Ibovespa, refletindo um cenário mais desafiador para o mercado de capitais e a preocupação dos investidores com o avanço do crédito. Seguimos confiantes na sustentabilidade de retornos sobre o patrimônio acima dos pares e na capacidade de crescimento saudável do banco, o que sustenta a manutenção do papel na carteira.</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4"/>
                        </a:rPr>
                        <a:t>Clique aqui</a:t>
                      </a:r>
                      <a:endParaRPr lang="pt-BR" sz="700" i="0" dirty="0">
                        <a:latin typeface="+mj-lt"/>
                      </a:endParaRPr>
                    </a:p>
                  </a:txBody>
                  <a:tcPr anchor="ctr"/>
                </a:tc>
                <a:extLst>
                  <a:ext uri="{0D108BD9-81ED-4DB2-BD59-A6C34878D82A}">
                    <a16:rowId xmlns:a16="http://schemas.microsoft.com/office/drawing/2014/main" val="1567495168"/>
                  </a:ext>
                </a:extLst>
              </a:tr>
              <a:tr h="386009">
                <a:tc>
                  <a:txBody>
                    <a:bodyPr/>
                    <a:lstStyle/>
                    <a:p>
                      <a:pPr algn="ctr" fontAlgn="ctr">
                        <a:buNone/>
                      </a:pPr>
                      <a:r>
                        <a:rPr lang="pt-BR" sz="700" b="0" i="0" u="none" strike="noStrike" dirty="0">
                          <a:solidFill>
                            <a:srgbClr val="000000"/>
                          </a:solidFill>
                          <a:effectLst/>
                          <a:latin typeface="Roboto Light" panose="02000000000000000000" pitchFamily="2" charset="0"/>
                        </a:rPr>
                        <a:t>Nubank</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ROXO34</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R$ 18,60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Alta em agosto, acima do Ibovespa, após um 2T26 acima das expectativas do mercado, com forte recuperação da margem financeira ajustada ao risco. Seguimos vendo uma combinação de crescimento estrutural, melhor visibilidade de lucros e múltiplo atrativo.</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700" b="1" i="0" u="none" strike="noStrike" kern="1200" cap="none" spc="0" normalizeH="0" baseline="0" noProof="0" dirty="0">
                          <a:ln>
                            <a:noFill/>
                          </a:ln>
                          <a:solidFill>
                            <a:srgbClr val="18191A"/>
                          </a:solidFill>
                          <a:effectLst/>
                          <a:uLnTx/>
                          <a:uFillTx/>
                          <a:latin typeface="+mj-lt"/>
                          <a:ea typeface="Roboto Light" panose="02000000000000000000" pitchFamily="2" charset="0"/>
                          <a:cs typeface="Roboto Light" panose="02000000000000000000" pitchFamily="2" charset="0"/>
                          <a:hlinkClick r:id="rId3"/>
                        </a:rPr>
                        <a:t>Clique aqui</a:t>
                      </a:r>
                      <a:endParaRPr kumimoji="0" lang="pt-BR" sz="700" b="0" i="0" u="none" strike="noStrike" kern="1200" cap="none" spc="0" normalizeH="0" baseline="0" noProof="0" dirty="0">
                        <a:ln>
                          <a:noFill/>
                        </a:ln>
                        <a:solidFill>
                          <a:srgbClr val="18191A"/>
                        </a:solidFill>
                        <a:effectLst/>
                        <a:uLnTx/>
                        <a:uFillTx/>
                        <a:latin typeface="+mj-lt"/>
                        <a:ea typeface="+mn-ea"/>
                        <a:cs typeface="+mn-cs"/>
                      </a:endParaRPr>
                    </a:p>
                  </a:txBody>
                  <a:tcPr anchor="ctr"/>
                </a:tc>
                <a:extLst>
                  <a:ext uri="{0D108BD9-81ED-4DB2-BD59-A6C34878D82A}">
                    <a16:rowId xmlns:a16="http://schemas.microsoft.com/office/drawing/2014/main" val="2098545810"/>
                  </a:ext>
                </a:extLst>
              </a:tr>
            </a:tbl>
          </a:graphicData>
        </a:graphic>
      </p:graphicFrame>
    </p:spTree>
    <p:extLst>
      <p:ext uri="{BB962C8B-B14F-4D97-AF65-F5344CB8AC3E}">
        <p14:creationId xmlns:p14="http://schemas.microsoft.com/office/powerpoint/2010/main" val="3072825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554A37-0243-8E93-0FE1-6326D9D6D491}"/>
              </a:ext>
            </a:extLst>
          </p:cNvPr>
          <p:cNvSpPr>
            <a:spLocks noGrp="1"/>
          </p:cNvSpPr>
          <p:nvPr>
            <p:ph sz="quarter" idx="20"/>
          </p:nvPr>
        </p:nvSpPr>
        <p:spPr>
          <a:xfrm>
            <a:off x="335999" y="797169"/>
            <a:ext cx="11518900" cy="5393906"/>
          </a:xfrm>
        </p:spPr>
        <p:txBody>
          <a:bodyPr/>
          <a:lstStyle/>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 </a:t>
            </a:r>
            <a:r>
              <a:rPr lang="pt-BR" sz="700" dirty="0">
                <a:solidFill>
                  <a:schemeClr val="tx2"/>
                </a:solidFill>
                <a:effectLst/>
                <a:latin typeface="+mj-lt"/>
                <a:ea typeface="Calibri" panose="020F0502020204030204" pitchFamily="34" charset="0"/>
                <a:cs typeface="Times New Roman" panose="02020603050405020304" pitchFamily="18"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2) </a:t>
            </a:r>
            <a:r>
              <a:rPr lang="pt-BR" sz="700" dirty="0">
                <a:solidFill>
                  <a:schemeClr val="tx2"/>
                </a:solidFill>
                <a:effectLst/>
                <a:latin typeface="+mj-lt"/>
                <a:ea typeface="Calibri" panose="020F0502020204030204" pitchFamily="34" charset="0"/>
                <a:cs typeface="Times New Roman" panose="02020603050405020304" pitchFamily="18" charset="0"/>
              </a:rPr>
              <a:t>Este relatório foi elaborado considerando a classificação de risco dos produtos de modo a gerar resultados de alocação para cada perfil de investidor.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3) </a:t>
            </a:r>
            <a:r>
              <a:rPr lang="pt-BR" sz="700" dirty="0">
                <a:solidFill>
                  <a:schemeClr val="tx2"/>
                </a:solidFill>
                <a:effectLst/>
                <a:latin typeface="+mj-lt"/>
                <a:ea typeface="Calibri" panose="020F0502020204030204" pitchFamily="34" charset="0"/>
                <a:cs typeface="Times New Roman" panose="02020603050405020304" pitchFamily="18" charset="0"/>
              </a:rPr>
              <a:t>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5) O</a:t>
            </a:r>
            <a:r>
              <a:rPr lang="pt-BR" sz="700" dirty="0">
                <a:solidFill>
                  <a:schemeClr val="tx2"/>
                </a:solidFill>
                <a:effectLst/>
                <a:latin typeface="+mj-lt"/>
                <a:ea typeface="Calibri" panose="020F0502020204030204" pitchFamily="34" charset="0"/>
                <a:cs typeface="Times New Roman" panose="02020603050405020304" pitchFamily="18" charset="0"/>
              </a:rPr>
              <a:t>s analistas da XP Investimentos estão obrigados ao cumprimento de todas as regras previstas no Código de Conduta da APIMEC para o Analista de Valores Mobiliários e na Política de Conduta dos Analistas de Valores Mobiliários da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6) O atendimento de nossos clientes é realizado por empregados da XP Investimentos ou por agentes autônomos de investimento que desempenham suas atividades por meio da XP, em conformidade com a Resolução CVM nº 178/2023,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7)Para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10) </a:t>
            </a:r>
            <a:r>
              <a:rPr lang="pt-BR" sz="700" dirty="0">
                <a:solidFill>
                  <a:schemeClr val="tx2"/>
                </a:solidFill>
                <a:effectLst/>
                <a:latin typeface="+mj-lt"/>
                <a:ea typeface="Calibri" panose="020F0502020204030204" pitchFamily="34" charset="0"/>
                <a:cs typeface="Times New Roman" panose="02020603050405020304" pitchFamily="18"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11) O custo da operação e a política de cobrança estão definidos nas tabelas de custos operacionais disponibilizadas no site da XP Investimentos: www.xpi.com.br.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12) A XP Investimentos se exime de qualquer responsabilidade por quaisquer prejuízos, diretos ou indiretos, que venham a decorrer da utilização deste relatório ou seu conteúdo.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13) A Avaliação Técnica e a Avaliação de Fundamentos seguem diferentes metodologias de análise. A Análise Técnica é executada seguindo conceitos como tendência, suporte, resistência, </a:t>
            </a:r>
            <a:r>
              <a:rPr lang="pt-BR" sz="700" dirty="0" err="1">
                <a:solidFill>
                  <a:schemeClr val="tx2"/>
                </a:solidFill>
                <a:effectLst/>
                <a:latin typeface="+mj-lt"/>
                <a:ea typeface="Calibri" panose="020F0502020204030204" pitchFamily="34" charset="0"/>
                <a:cs typeface="Times New Roman" panose="02020603050405020304" pitchFamily="18" charset="0"/>
              </a:rPr>
              <a:t>candles</a:t>
            </a:r>
            <a:r>
              <a:rPr lang="pt-BR" sz="700" dirty="0">
                <a:solidFill>
                  <a:schemeClr val="tx2"/>
                </a:solidFill>
                <a:effectLst/>
                <a:latin typeface="+mj-lt"/>
                <a:ea typeface="Calibri" panose="020F0502020204030204" pitchFamily="34" charset="0"/>
                <a:cs typeface="Times New Roman" panose="02020603050405020304" pitchFamily="18"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tx2"/>
                </a:solidFill>
                <a:effectLst/>
                <a:latin typeface="+mj-lt"/>
                <a:ea typeface="Calibri" panose="020F0502020204030204" pitchFamily="34" charset="0"/>
                <a:cs typeface="Times New Roman" panose="02020603050405020304" pitchFamily="18" charset="0"/>
              </a:rPr>
              <a:t>stops</a:t>
            </a:r>
            <a:r>
              <a:rPr lang="pt-BR" sz="700" dirty="0">
                <a:solidFill>
                  <a:schemeClr val="tx2"/>
                </a:solidFill>
                <a:effectLst/>
                <a:latin typeface="+mj-lt"/>
                <a:ea typeface="Calibri" panose="020F0502020204030204" pitchFamily="34" charset="0"/>
                <a:cs typeface="Times New Roman" panose="02020603050405020304" pitchFamily="18" charset="0"/>
              </a:rPr>
              <a:t>” para limitar as possíveis perdas.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15) O investimento em opções é preferencialmente indicado para investidores de perfil agressivo, de acordo com a política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16) 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17) 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18) ESTA INSTITUIÇÃO É ADERENTE AO CÓDIGO ANBIMA DE REGULAÇÃO E MELHORES PRÁTICAS PARA ATIVIDADE DE DISTRIBUIÇÃO DE PRODUTOS DE INVESTIMENTO NO VAREJO. </a:t>
            </a:r>
          </a:p>
          <a:p>
            <a:pPr marL="180340" indent="-45720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 </a:t>
            </a:r>
          </a:p>
          <a:p>
            <a:pPr>
              <a:lnSpc>
                <a:spcPct val="100000"/>
              </a:lnSpc>
              <a:spcBef>
                <a:spcPts val="400"/>
              </a:spcBef>
            </a:pPr>
            <a:endParaRPr lang="pt-BR" sz="700" dirty="0">
              <a:solidFill>
                <a:schemeClr val="tx2"/>
              </a:solidFill>
              <a:latin typeface="+mj-lt"/>
            </a:endParaRPr>
          </a:p>
        </p:txBody>
      </p:sp>
      <p:sp>
        <p:nvSpPr>
          <p:cNvPr id="8" name="Text Placeholder 7">
            <a:extLst>
              <a:ext uri="{FF2B5EF4-FFF2-40B4-BE49-F238E27FC236}">
                <a16:creationId xmlns:a16="http://schemas.microsoft.com/office/drawing/2014/main" id="{9CAFF29E-4FBB-9DEE-55A9-7477DF81D287}"/>
              </a:ext>
            </a:extLst>
          </p:cNvPr>
          <p:cNvSpPr>
            <a:spLocks noGrp="1"/>
          </p:cNvSpPr>
          <p:nvPr>
            <p:ph type="body" sz="quarter" idx="16"/>
          </p:nvPr>
        </p:nvSpPr>
        <p:spPr/>
        <p:txBody>
          <a:bodyPr/>
          <a:lstStyle/>
          <a:p>
            <a:r>
              <a:rPr lang="pt-BR" dirty="0" err="1"/>
              <a:t>Disclaimer</a:t>
            </a:r>
            <a:endParaRPr lang="pt-BR" dirty="0"/>
          </a:p>
        </p:txBody>
      </p:sp>
      <p:sp>
        <p:nvSpPr>
          <p:cNvPr id="10" name="Date Placeholder 9">
            <a:extLst>
              <a:ext uri="{FF2B5EF4-FFF2-40B4-BE49-F238E27FC236}">
                <a16:creationId xmlns:a16="http://schemas.microsoft.com/office/drawing/2014/main" id="{4AC1D66F-0BA3-5117-C669-4427A142A817}"/>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spTree>
    <p:extLst>
      <p:ext uri="{BB962C8B-B14F-4D97-AF65-F5344CB8AC3E}">
        <p14:creationId xmlns:p14="http://schemas.microsoft.com/office/powerpoint/2010/main" val="3039004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69185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1DFE75-644F-4655-9AAB-1BA51DEA2D18}">
  <ds:schemaRefs>
    <ds:schemaRef ds:uri="http://purl.org/dc/elements/1.1/"/>
    <ds:schemaRef ds:uri="http://schemas.microsoft.com/office/2006/documentManagement/types"/>
    <ds:schemaRef ds:uri="http://schemas.openxmlformats.org/package/2006/metadata/core-properties"/>
    <ds:schemaRef ds:uri="http://purl.org/dc/terms/"/>
    <ds:schemaRef ds:uri="http://purl.org/dc/dcmitype/"/>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98E4DE29-FCA5-441A-A5C0-116A69788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C14C19-827A-43CC-840A-25F83CDFFAAA}">
  <ds:schemaRefs>
    <ds:schemaRef ds:uri="http://schemas.microsoft.com/sharepoint/v3/contenttype/forms"/>
  </ds:schemaRefs>
</ds:datastoreItem>
</file>

<file path=docMetadata/LabelInfo.xml><?xml version="1.0" encoding="utf-8"?>
<clbl:labelList xmlns:clbl="http://schemas.microsoft.com/office/2020/mipLabelMetadata">
  <clbl:label id="{e6a9157b-bcf3-4eac-b03e-7cf007ba9fdf}" enabled="1" method="Privileged" siteId="{cf56e405-d2b0-4266-b210-aa04636b6161}" removed="0"/>
</clbl:labelList>
</file>

<file path=docProps/app.xml><?xml version="1.0" encoding="utf-8"?>
<Properties xmlns="http://schemas.openxmlformats.org/officeDocument/2006/extended-properties" xmlns:vt="http://schemas.openxmlformats.org/officeDocument/2006/docPropsVTypes">
  <Template/>
  <TotalTime>95778</TotalTime>
  <Words>3753</Words>
  <Application>Microsoft Office PowerPoint</Application>
  <PresentationFormat>Widescreen</PresentationFormat>
  <Paragraphs>472</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Roboto</vt:lpstr>
      <vt:lpstr>Roboto Light</vt:lpstr>
      <vt:lpstr>Roboto Medium</vt:lpstr>
      <vt:lpstr>3_Template DGA 16-9</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Ações XP</dc:title>
  <dc:creator>Pedro Urbinati</dc:creator>
  <cp:lastModifiedBy>Caio Souza</cp:lastModifiedBy>
  <cp:revision>4632</cp:revision>
  <cp:lastPrinted>2019-11-05T18:41:12Z</cp:lastPrinted>
  <dcterms:created xsi:type="dcterms:W3CDTF">2016-08-23T12:44:29Z</dcterms:created>
  <dcterms:modified xsi:type="dcterms:W3CDTF">2026-07-02T12:02:44Z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ClassificationContentMarkingFooterLocations">
    <vt:lpwstr>3_Template DGA 16-9:4</vt:lpwstr>
  </property>
  <property fmtid="{D5CDD505-2E9C-101B-9397-08002B2CF9AE}" pid="4" name="ClassificationContentMarkingFooterText">
    <vt:lpwstr>[ CLASSIFICAÇÃO: PÚBLICA ]</vt:lpwstr>
  </property>
  <property fmtid="{D5CDD505-2E9C-101B-9397-08002B2CF9AE}" pid="5" name="MSIP_Label_e6a9157b-bcf3-4eac-b03e-7cf007ba9fdf_Enabled">
    <vt:lpwstr>true</vt:lpwstr>
  </property>
  <property fmtid="{D5CDD505-2E9C-101B-9397-08002B2CF9AE}" pid="6" name="MSIP_Label_e6a9157b-bcf3-4eac-b03e-7cf007ba9fdf_SetDate">
    <vt:lpwstr>2024-04-09T17:53:06Z</vt:lpwstr>
  </property>
  <property fmtid="{D5CDD505-2E9C-101B-9397-08002B2CF9AE}" pid="7" name="MSIP_Label_e6a9157b-bcf3-4eac-b03e-7cf007ba9fdf_Method">
    <vt:lpwstr>Standard</vt:lpwstr>
  </property>
  <property fmtid="{D5CDD505-2E9C-101B-9397-08002B2CF9AE}" pid="8" name="MSIP_Label_e6a9157b-bcf3-4eac-b03e-7cf007ba9fdf_Name">
    <vt:lpwstr>Publica</vt:lpwstr>
  </property>
  <property fmtid="{D5CDD505-2E9C-101B-9397-08002B2CF9AE}" pid="9" name="MSIP_Label_e6a9157b-bcf3-4eac-b03e-7cf007ba9fdf_SiteId">
    <vt:lpwstr>cf56e405-d2b0-4266-b210-aa04636b6161</vt:lpwstr>
  </property>
  <property fmtid="{D5CDD505-2E9C-101B-9397-08002B2CF9AE}" pid="10" name="MSIP_Label_e6a9157b-bcf3-4eac-b03e-7cf007ba9fdf_ActionId">
    <vt:lpwstr>f9c0e384-4780-4eab-8453-f58cd64d25e4</vt:lpwstr>
  </property>
  <property fmtid="{D5CDD505-2E9C-101B-9397-08002B2CF9AE}" pid="11" name="MSIP_Label_e6a9157b-bcf3-4eac-b03e-7cf007ba9fdf_ContentBits">
    <vt:lpwstr>2</vt:lpwstr>
  </property>
</Properties>
</file>